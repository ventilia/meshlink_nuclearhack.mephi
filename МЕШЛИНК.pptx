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-438150"/>
            <a:ext cx="4081463" cy="328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94"/>
              </a:lnSpc>
              <a:buNone/>
            </a:pPr>
            <a:r>
              <a:rPr lang="en-US" sz="6769" spc="338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    MASHLINK</a:t>
            </a:r>
            <a:endParaRPr lang="en-US" sz="6769" dirty="0"/>
          </a:p>
        </p:txBody>
      </p:sp>
      <p:sp>
        <p:nvSpPr>
          <p:cNvPr id="3" name="Text 1"/>
          <p:cNvSpPr/>
          <p:nvPr/>
        </p:nvSpPr>
        <p:spPr>
          <a:xfrm>
            <a:off x="190500" y="4352925"/>
            <a:ext cx="33432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16"/>
              </a:lnSpc>
              <a:buNone/>
            </a:pPr>
            <a:r>
              <a:rPr lang="en-US" sz="2316" spc="-46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КОМАНДА </a:t>
            </a:r>
            <a:endParaRPr lang="en-US" sz="2316" dirty="0"/>
          </a:p>
          <a:p>
            <a:pPr algn="l" indent="0" marL="0">
              <a:lnSpc>
                <a:spcPts val="2316"/>
              </a:lnSpc>
              <a:buNone/>
            </a:pPr>
            <a:r>
              <a:rPr lang="en-US" sz="2316" spc="-46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“ЕСТЬ ИДЕИ”</a:t>
            </a:r>
            <a:endParaRPr lang="en-US" sz="2316" dirty="0"/>
          </a:p>
        </p:txBody>
      </p:sp>
      <p:sp>
        <p:nvSpPr>
          <p:cNvPr id="4" name="Text 2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  <p:sp>
        <p:nvSpPr>
          <p:cNvPr id="5" name="Text 3"/>
          <p:cNvSpPr/>
          <p:nvPr/>
        </p:nvSpPr>
        <p:spPr>
          <a:xfrm>
            <a:off x="190500" y="142875"/>
            <a:ext cx="1314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АЛИХАНОВ МУХАМЕД</a:t>
            </a:r>
            <a:endParaRPr lang="en-US" sz="784" dirty="0"/>
          </a:p>
        </p:txBody>
      </p:sp>
      <p:sp>
        <p:nvSpPr>
          <p:cNvPr id="6" name="Text 4"/>
          <p:cNvSpPr/>
          <p:nvPr/>
        </p:nvSpPr>
        <p:spPr>
          <a:xfrm>
            <a:off x="180975" y="-6886575"/>
            <a:ext cx="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67288" y="485775"/>
            <a:ext cx="386715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62638" y="419100"/>
            <a:ext cx="2014538" cy="42767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" y="1890713"/>
            <a:ext cx="24288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710" spc="-3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Android-приложение</a:t>
            </a:r>
            <a:endParaRPr lang="en-US" sz="171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42317" t="0" b="21462"/>
          <a:stretch/>
        </p:blipFill>
        <p:spPr>
          <a:xfrm>
            <a:off x="8142852" y="-372499"/>
            <a:ext cx="1001148" cy="1363099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58553" t="0" b="42469"/>
          <a:stretch/>
        </p:blipFill>
        <p:spPr>
          <a:xfrm>
            <a:off x="7877175" y="-638175"/>
            <a:ext cx="939589" cy="130420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" y="609600"/>
            <a:ext cx="3276600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328"/>
              </a:lnSpc>
              <a:buNone/>
            </a:pPr>
            <a:r>
              <a:rPr lang="en-US" sz="5344" spc="-2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Наше </a:t>
            </a:r>
            <a:pPr algn="l" indent="0" marL="0">
              <a:lnSpc>
                <a:spcPts val="4328"/>
              </a:lnSpc>
              <a:buNone/>
            </a:pPr>
            <a:r>
              <a:rPr lang="en-US" sz="3420" spc="-2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решение</a:t>
            </a:r>
            <a:endParaRPr lang="en-US" sz="5344" dirty="0"/>
          </a:p>
        </p:txBody>
      </p:sp>
      <p:sp>
        <p:nvSpPr>
          <p:cNvPr id="7" name="Text 2"/>
          <p:cNvSpPr/>
          <p:nvPr/>
        </p:nvSpPr>
        <p:spPr>
          <a:xfrm>
            <a:off x="190500" y="4886325"/>
            <a:ext cx="6572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1A1A28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TEAM NAME</a:t>
            </a:r>
            <a:endParaRPr lang="en-US" sz="784" dirty="0"/>
          </a:p>
        </p:txBody>
      </p:sp>
      <p:sp>
        <p:nvSpPr>
          <p:cNvPr id="8" name="Text 3"/>
          <p:cNvSpPr/>
          <p:nvPr/>
        </p:nvSpPr>
        <p:spPr>
          <a:xfrm>
            <a:off x="8072438" y="4886325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1A1A28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TODAY’S DATE</a:t>
            </a:r>
            <a:endParaRPr lang="en-US" sz="784" dirty="0"/>
          </a:p>
        </p:txBody>
      </p:sp>
      <p:sp>
        <p:nvSpPr>
          <p:cNvPr id="9" name="Text 4"/>
          <p:cNvSpPr/>
          <p:nvPr/>
        </p:nvSpPr>
        <p:spPr>
          <a:xfrm>
            <a:off x="190500" y="142875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1A1A28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COMPANY NAME</a:t>
            </a:r>
            <a:endParaRPr lang="en-US" sz="78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76975" y="390525"/>
            <a:ext cx="2473849" cy="4362554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633788" y="428625"/>
            <a:ext cx="2014538" cy="4276725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3500438" y="419100"/>
            <a:ext cx="2049986" cy="4362554"/>
          </a:xfrm>
          <a:prstGeom prst="rect">
            <a:avLst/>
          </a:prstGeom>
          <a:noFill/>
          <a:ln/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600450" y="419100"/>
            <a:ext cx="2047875" cy="4362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525431" y="2519414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1140" spc="-23" kern="0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endParaRPr lang="en-US" sz="1140" dirty="0"/>
          </a:p>
        </p:txBody>
      </p:sp>
      <p:sp>
        <p:nvSpPr>
          <p:cNvPr id="15" name="Shape 7"/>
          <p:cNvSpPr/>
          <p:nvPr/>
        </p:nvSpPr>
        <p:spPr>
          <a:xfrm>
            <a:off x="190500" y="2714625"/>
            <a:ext cx="3309938" cy="2064615"/>
          </a:xfrm>
          <a:prstGeom prst="rect">
            <a:avLst/>
          </a:prstGeom>
          <a:solidFill>
            <a:srgbClr val="101017"/>
          </a:solidFill>
          <a:ln/>
        </p:spPr>
      </p:sp>
      <p:sp>
        <p:nvSpPr>
          <p:cNvPr id="16" name="Shape 8"/>
          <p:cNvSpPr/>
          <p:nvPr/>
        </p:nvSpPr>
        <p:spPr>
          <a:xfrm>
            <a:off x="190500" y="2714625"/>
            <a:ext cx="122894" cy="2064615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7" name="Shape 9"/>
          <p:cNvSpPr/>
          <p:nvPr/>
        </p:nvSpPr>
        <p:spPr>
          <a:xfrm>
            <a:off x="534602" y="3057525"/>
            <a:ext cx="2621733" cy="245787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8" name="Shape 10"/>
          <p:cNvSpPr/>
          <p:nvPr/>
        </p:nvSpPr>
        <p:spPr>
          <a:xfrm>
            <a:off x="534602" y="3401628"/>
            <a:ext cx="2621733" cy="245787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9" name="Shape 11"/>
          <p:cNvSpPr/>
          <p:nvPr/>
        </p:nvSpPr>
        <p:spPr>
          <a:xfrm>
            <a:off x="534602" y="3745730"/>
            <a:ext cx="2621733" cy="245787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20" name="Shape 12"/>
          <p:cNvSpPr/>
          <p:nvPr/>
        </p:nvSpPr>
        <p:spPr>
          <a:xfrm>
            <a:off x="534602" y="4089832"/>
            <a:ext cx="2621733" cy="245787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21" name="Text 13"/>
          <p:cNvSpPr/>
          <p:nvPr/>
        </p:nvSpPr>
        <p:spPr>
          <a:xfrm>
            <a:off x="534602" y="2821133"/>
            <a:ext cx="1443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1"/>
              </a:lnSpc>
              <a:buNone/>
            </a:pPr>
            <a:r>
              <a:rPr lang="en-US" sz="981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Реализовано</a:t>
            </a:r>
            <a:endParaRPr lang="en-US" sz="981" dirty="0"/>
          </a:p>
        </p:txBody>
      </p:sp>
      <p:sp>
        <p:nvSpPr>
          <p:cNvPr id="22" name="Text 14"/>
          <p:cNvSpPr/>
          <p:nvPr/>
        </p:nvSpPr>
        <p:spPr>
          <a:xfrm>
            <a:off x="814388" y="3089460"/>
            <a:ext cx="20574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spc="-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Текстовые и голосовые </a:t>
            </a:r>
            <a:endParaRPr lang="en-US" sz="713" dirty="0"/>
          </a:p>
          <a:p>
            <a:pPr algn="l" indent="0" marL="0">
              <a:lnSpc>
                <a:spcPts val="641"/>
              </a:lnSpc>
              <a:buNone/>
            </a:pPr>
            <a:r>
              <a:rPr lang="en-US" sz="713" spc="-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сообщения</a:t>
            </a:r>
            <a:endParaRPr lang="en-US" sz="713" dirty="0"/>
          </a:p>
        </p:txBody>
      </p:sp>
      <p:sp>
        <p:nvSpPr>
          <p:cNvPr id="23" name="Text 15"/>
          <p:cNvSpPr/>
          <p:nvPr/>
        </p:nvSpPr>
        <p:spPr>
          <a:xfrm>
            <a:off x="814388" y="3427597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spc="-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Передача файлов </a:t>
            </a:r>
            <a:endParaRPr lang="en-US" sz="713" dirty="0"/>
          </a:p>
          <a:p>
            <a:pPr algn="l" indent="0" marL="0">
              <a:lnSpc>
                <a:spcPts val="713"/>
              </a:lnSpc>
              <a:buNone/>
            </a:pPr>
            <a:r>
              <a:rPr lang="en-US" sz="713" spc="-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 чанкированием</a:t>
            </a:r>
            <a:endParaRPr lang="en-US" sz="713" dirty="0"/>
          </a:p>
        </p:txBody>
      </p:sp>
      <p:sp>
        <p:nvSpPr>
          <p:cNvPr id="24" name="Text 16"/>
          <p:cNvSpPr/>
          <p:nvPr/>
        </p:nvSpPr>
        <p:spPr>
          <a:xfrm>
            <a:off x="814388" y="3824288"/>
            <a:ext cx="21478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spc="-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Мультихоп/ретрансляция</a:t>
            </a:r>
            <a:endParaRPr lang="en-US" sz="713" dirty="0"/>
          </a:p>
        </p:txBody>
      </p:sp>
      <p:sp>
        <p:nvSpPr>
          <p:cNvPr id="25" name="Text 17"/>
          <p:cNvSpPr/>
          <p:nvPr/>
        </p:nvSpPr>
        <p:spPr>
          <a:xfrm>
            <a:off x="814388" y="4165785"/>
            <a:ext cx="25908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spc="-21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Криптография</a:t>
            </a:r>
            <a:endParaRPr lang="en-US" sz="713" dirty="0"/>
          </a:p>
        </p:txBody>
      </p:sp>
      <p:sp>
        <p:nvSpPr>
          <p:cNvPr id="26" name="Shape 18"/>
          <p:cNvSpPr/>
          <p:nvPr/>
        </p:nvSpPr>
        <p:spPr>
          <a:xfrm>
            <a:off x="533400" y="4433888"/>
            <a:ext cx="2621733" cy="245787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27" name="Text 19"/>
          <p:cNvSpPr/>
          <p:nvPr/>
        </p:nvSpPr>
        <p:spPr>
          <a:xfrm>
            <a:off x="813185" y="4509840"/>
            <a:ext cx="25908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spc="-21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Аутентификация</a:t>
            </a:r>
            <a:endParaRPr lang="en-US" sz="713" dirty="0"/>
          </a:p>
        </p:txBody>
      </p:sp>
      <p:sp>
        <p:nvSpPr>
          <p:cNvPr id="28" name="Text 20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42865" t="0" b="42317"/>
          <a:stretch/>
        </p:blipFill>
        <p:spPr>
          <a:xfrm>
            <a:off x="-743973" y="-734449"/>
            <a:ext cx="991626" cy="1001149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58855" t="0" b="58435"/>
          <a:stretch/>
        </p:blipFill>
        <p:spPr>
          <a:xfrm>
            <a:off x="-1009650" y="-1000125"/>
            <a:ext cx="932731" cy="9422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47825" y="257175"/>
            <a:ext cx="7158038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Технический стек   и архитектура</a:t>
            </a:r>
            <a:endParaRPr lang="en-US" sz="3420" dirty="0"/>
          </a:p>
        </p:txBody>
      </p:sp>
      <p:sp>
        <p:nvSpPr>
          <p:cNvPr id="5" name="Text 1"/>
          <p:cNvSpPr/>
          <p:nvPr/>
        </p:nvSpPr>
        <p:spPr>
          <a:xfrm>
            <a:off x="6453188" y="4162425"/>
            <a:ext cx="67151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4" spc="95" kern="0" dirty="0">
                <a:solidFill>
                  <a:srgbClr val="1A1A28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TEAM NAME</a:t>
            </a:r>
            <a:endParaRPr lang="en-US" sz="954" dirty="0"/>
          </a:p>
        </p:txBody>
      </p:sp>
      <p:sp>
        <p:nvSpPr>
          <p:cNvPr id="6" name="Text 2"/>
          <p:cNvSpPr/>
          <p:nvPr/>
        </p:nvSpPr>
        <p:spPr>
          <a:xfrm>
            <a:off x="190500" y="142875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1A1A28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COMPANY NAME</a:t>
            </a:r>
            <a:endParaRPr lang="en-US" sz="784" dirty="0"/>
          </a:p>
        </p:txBody>
      </p:sp>
      <p:sp>
        <p:nvSpPr>
          <p:cNvPr id="7" name="Shape 3"/>
          <p:cNvSpPr/>
          <p:nvPr/>
        </p:nvSpPr>
        <p:spPr>
          <a:xfrm>
            <a:off x="5772150" y="1362075"/>
            <a:ext cx="3371850" cy="3400425"/>
          </a:xfrm>
          <a:prstGeom prst="roundRect">
            <a:avLst/>
          </a:prstGeom>
          <a:solidFill>
            <a:srgbClr val="101017"/>
          </a:solidFill>
          <a:ln/>
        </p:spPr>
      </p:sp>
      <p:sp>
        <p:nvSpPr>
          <p:cNvPr id="8" name="Shape 4"/>
          <p:cNvSpPr/>
          <p:nvPr/>
        </p:nvSpPr>
        <p:spPr>
          <a:xfrm>
            <a:off x="5838825" y="2409825"/>
            <a:ext cx="3181350" cy="333375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9" name="Shape 5"/>
          <p:cNvSpPr/>
          <p:nvPr/>
        </p:nvSpPr>
        <p:spPr>
          <a:xfrm>
            <a:off x="5838825" y="2890838"/>
            <a:ext cx="3181350" cy="333375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0" name="Shape 6"/>
          <p:cNvSpPr/>
          <p:nvPr/>
        </p:nvSpPr>
        <p:spPr>
          <a:xfrm>
            <a:off x="5838825" y="3367088"/>
            <a:ext cx="3181350" cy="338138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1" name="Shape 7"/>
          <p:cNvSpPr/>
          <p:nvPr/>
        </p:nvSpPr>
        <p:spPr>
          <a:xfrm>
            <a:off x="5838825" y="3848100"/>
            <a:ext cx="3181350" cy="333375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2" name="Text 8"/>
          <p:cNvSpPr/>
          <p:nvPr/>
        </p:nvSpPr>
        <p:spPr>
          <a:xfrm>
            <a:off x="6176963" y="2452688"/>
            <a:ext cx="24955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Текстовые и голосовые </a:t>
            </a:r>
            <a:endParaRPr lang="en-US" sz="867" dirty="0"/>
          </a:p>
          <a:p>
            <a:pPr algn="l" indent="0" marL="0">
              <a:lnSpc>
                <a:spcPts val="781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сообщения</a:t>
            </a:r>
            <a:endParaRPr lang="en-US" sz="867" dirty="0"/>
          </a:p>
        </p:txBody>
      </p:sp>
      <p:sp>
        <p:nvSpPr>
          <p:cNvPr id="13" name="Shape 9"/>
          <p:cNvSpPr/>
          <p:nvPr/>
        </p:nvSpPr>
        <p:spPr>
          <a:xfrm>
            <a:off x="5838825" y="2414588"/>
            <a:ext cx="3181350" cy="338138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4" name="Text 10"/>
          <p:cNvSpPr/>
          <p:nvPr/>
        </p:nvSpPr>
        <p:spPr>
          <a:xfrm>
            <a:off x="5876925" y="2505075"/>
            <a:ext cx="29194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UDP · Wi-Fi Direct · BLE · NSD
</a:t>
            </a:r>
            <a:endParaRPr lang="en-US" sz="867" dirty="0"/>
          </a:p>
        </p:txBody>
      </p:sp>
      <p:sp>
        <p:nvSpPr>
          <p:cNvPr id="15" name="Shape 11"/>
          <p:cNvSpPr/>
          <p:nvPr/>
        </p:nvSpPr>
        <p:spPr>
          <a:xfrm>
            <a:off x="5838825" y="1938337"/>
            <a:ext cx="3181350" cy="333375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6" name="Text 12"/>
          <p:cNvSpPr/>
          <p:nvPr/>
        </p:nvSpPr>
        <p:spPr>
          <a:xfrm>
            <a:off x="5876925" y="2043113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Kotlin Coroutines + TCP/UDP
</a:t>
            </a:r>
            <a:endParaRPr lang="en-US" sz="867" dirty="0"/>
          </a:p>
        </p:txBody>
      </p:sp>
      <p:sp>
        <p:nvSpPr>
          <p:cNvPr id="17" name="Shape 13"/>
          <p:cNvSpPr/>
          <p:nvPr/>
        </p:nvSpPr>
        <p:spPr>
          <a:xfrm>
            <a:off x="5838825" y="1462088"/>
            <a:ext cx="3181350" cy="338138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8" name="Text 14"/>
          <p:cNvSpPr/>
          <p:nvPr/>
        </p:nvSpPr>
        <p:spPr>
          <a:xfrm>
            <a:off x="5876925" y="1566863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Jetpack Compose</a:t>
            </a:r>
            <a:endParaRPr lang="en-US" sz="867" dirty="0"/>
          </a:p>
        </p:txBody>
      </p:sp>
      <p:sp>
        <p:nvSpPr>
          <p:cNvPr id="19" name="Text 15"/>
          <p:cNvSpPr/>
          <p:nvPr/>
        </p:nvSpPr>
        <p:spPr>
          <a:xfrm>
            <a:off x="5876925" y="2928938"/>
            <a:ext cx="1814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Передача файлов </a:t>
            </a:r>
            <a:endParaRPr lang="en-US" sz="867" dirty="0"/>
          </a:p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 чанкированием</a:t>
            </a:r>
            <a:endParaRPr lang="en-US" sz="867" dirty="0"/>
          </a:p>
        </p:txBody>
      </p:sp>
      <p:sp>
        <p:nvSpPr>
          <p:cNvPr id="20" name="Text 16"/>
          <p:cNvSpPr/>
          <p:nvPr/>
        </p:nvSpPr>
        <p:spPr>
          <a:xfrm>
            <a:off x="5876925" y="3471863"/>
            <a:ext cx="26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Rust → .so</a:t>
            </a:r>
            <a:endParaRPr lang="en-US" sz="867" dirty="0"/>
          </a:p>
        </p:txBody>
      </p:sp>
      <p:sp>
        <p:nvSpPr>
          <p:cNvPr id="21" name="Text 17"/>
          <p:cNvSpPr/>
          <p:nvPr/>
        </p:nvSpPr>
        <p:spPr>
          <a:xfrm>
            <a:off x="5876925" y="3948112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26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Ed25519 · SHA-256 · OsRng</a:t>
            </a:r>
            <a:endParaRPr lang="en-US" sz="867" dirty="0"/>
          </a:p>
        </p:txBody>
      </p:sp>
      <p:sp>
        <p:nvSpPr>
          <p:cNvPr id="22" name="Shape 18"/>
          <p:cNvSpPr/>
          <p:nvPr/>
        </p:nvSpPr>
        <p:spPr>
          <a:xfrm>
            <a:off x="5838825" y="4324350"/>
            <a:ext cx="3181350" cy="333375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23" name="Text 19"/>
          <p:cNvSpPr/>
          <p:nvPr/>
        </p:nvSpPr>
        <p:spPr>
          <a:xfrm>
            <a:off x="5876925" y="4376738"/>
            <a:ext cx="3267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26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Room DB + DataStore + FileManager</a:t>
            </a:r>
            <a:endParaRPr lang="en-US" sz="867" dirty="0"/>
          </a:p>
        </p:txBody>
      </p:sp>
      <p:sp>
        <p:nvSpPr>
          <p:cNvPr id="24" name="Shape 20"/>
          <p:cNvSpPr/>
          <p:nvPr/>
        </p:nvSpPr>
        <p:spPr>
          <a:xfrm>
            <a:off x="9015413" y="1262922"/>
            <a:ext cx="128588" cy="3400425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388" y="1514475"/>
            <a:ext cx="5719763" cy="292417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49726" t="0" b="43414"/>
          <a:stretch/>
        </p:blipFill>
        <p:spPr>
          <a:xfrm>
            <a:off x="8271439" y="-753499"/>
            <a:ext cx="872561" cy="982099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64225" t="0" b="59275"/>
          <a:stretch/>
        </p:blipFill>
        <p:spPr>
          <a:xfrm>
            <a:off x="8005762" y="-1019175"/>
            <a:ext cx="811002" cy="9232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42888" y="200025"/>
            <a:ext cx="8420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94"/>
              </a:lnSpc>
              <a:buNone/>
            </a:pPr>
            <a:r>
              <a:rPr lang="en-US" sz="4560" spc="-18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Каналы обнаружения</a:t>
            </a:r>
            <a:endParaRPr lang="en-US" sz="4560" dirty="0"/>
          </a:p>
        </p:txBody>
      </p:sp>
      <p:sp>
        <p:nvSpPr>
          <p:cNvPr id="5" name="Shape 1"/>
          <p:cNvSpPr/>
          <p:nvPr/>
        </p:nvSpPr>
        <p:spPr>
          <a:xfrm>
            <a:off x="242888" y="1376363"/>
            <a:ext cx="2061482" cy="2939673"/>
          </a:xfrm>
          <a:prstGeom prst="rect">
            <a:avLst/>
          </a:prstGeom>
          <a:solidFill>
            <a:srgbClr val="101017"/>
          </a:solidFill>
          <a:ln/>
        </p:spPr>
      </p:sp>
      <p:sp>
        <p:nvSpPr>
          <p:cNvPr id="6" name="Shape 2"/>
          <p:cNvSpPr/>
          <p:nvPr/>
        </p:nvSpPr>
        <p:spPr>
          <a:xfrm>
            <a:off x="2304369" y="1376363"/>
            <a:ext cx="41230" cy="2939673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Shape 3"/>
          <p:cNvSpPr/>
          <p:nvPr/>
        </p:nvSpPr>
        <p:spPr>
          <a:xfrm>
            <a:off x="399559" y="3285295"/>
            <a:ext cx="1752260" cy="482387"/>
          </a:xfrm>
          <a:prstGeom prst="roundRect">
            <a:avLst/>
          </a:prstGeom>
          <a:solidFill>
            <a:srgbClr val="30303B">
              <a:alpha val="7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242888" y="4225330"/>
            <a:ext cx="2061482" cy="90705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9" name="Shape 5"/>
          <p:cNvSpPr/>
          <p:nvPr/>
        </p:nvSpPr>
        <p:spPr>
          <a:xfrm>
            <a:off x="242888" y="1376363"/>
            <a:ext cx="41230" cy="284896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0" name="Shape 6"/>
          <p:cNvSpPr/>
          <p:nvPr/>
        </p:nvSpPr>
        <p:spPr>
          <a:xfrm>
            <a:off x="284118" y="1376363"/>
            <a:ext cx="2020253" cy="8658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1" name="Shape 7"/>
          <p:cNvSpPr/>
          <p:nvPr/>
        </p:nvSpPr>
        <p:spPr>
          <a:xfrm>
            <a:off x="341840" y="1524789"/>
            <a:ext cx="309222" cy="30922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2" name="Text 8"/>
          <p:cNvSpPr/>
          <p:nvPr/>
        </p:nvSpPr>
        <p:spPr>
          <a:xfrm>
            <a:off x="436666" y="1623740"/>
            <a:ext cx="119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1</a:t>
            </a:r>
            <a:endParaRPr lang="en-US" sz="856" dirty="0"/>
          </a:p>
        </p:txBody>
      </p:sp>
      <p:sp>
        <p:nvSpPr>
          <p:cNvPr id="13" name="Text 9"/>
          <p:cNvSpPr/>
          <p:nvPr/>
        </p:nvSpPr>
        <p:spPr>
          <a:xfrm>
            <a:off x="341840" y="2023668"/>
            <a:ext cx="1462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UDP Broadcast</a:t>
            </a:r>
            <a:endParaRPr lang="en-US" sz="856" dirty="0"/>
          </a:p>
        </p:txBody>
      </p:sp>
      <p:sp>
        <p:nvSpPr>
          <p:cNvPr id="14" name="Text 10"/>
          <p:cNvSpPr/>
          <p:nvPr/>
        </p:nvSpPr>
        <p:spPr>
          <a:xfrm>
            <a:off x="399559" y="2349382"/>
            <a:ext cx="1052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7"/>
              </a:lnSpc>
              <a:buNone/>
            </a:pPr>
            <a:r>
              <a:rPr lang="en-US" sz="61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Как работает:</a:t>
            </a:r>
            <a:endParaRPr lang="en-US" sz="617" dirty="0"/>
          </a:p>
        </p:txBody>
      </p:sp>
      <p:sp>
        <p:nvSpPr>
          <p:cNvPr id="15" name="Text 11"/>
          <p:cNvSpPr/>
          <p:nvPr/>
        </p:nvSpPr>
        <p:spPr>
          <a:xfrm>
            <a:off x="436666" y="2563776"/>
            <a:ext cx="1686292" cy="791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Устройство периодически отправляет широковещательный пакет с идентификатором в локальную сеть. Все узлы в той же подсети немедленно получают анонс и добавляют источник в список соседей.</a:t>
            </a:r>
            <a:endParaRPr lang="en-US" sz="493" dirty="0"/>
          </a:p>
        </p:txBody>
      </p:sp>
      <p:sp>
        <p:nvSpPr>
          <p:cNvPr id="16" name="Text 12"/>
          <p:cNvSpPr/>
          <p:nvPr/>
        </p:nvSpPr>
        <p:spPr>
          <a:xfrm>
            <a:off x="766504" y="3429599"/>
            <a:ext cx="10142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Оба устройства в Wi-Fi сети</a:t>
            </a:r>
            <a:endParaRPr lang="en-US" sz="493" dirty="0"/>
          </a:p>
        </p:txBody>
      </p:sp>
      <p:sp>
        <p:nvSpPr>
          <p:cNvPr id="17" name="Text 13"/>
          <p:cNvSpPr/>
          <p:nvPr/>
        </p:nvSpPr>
        <p:spPr>
          <a:xfrm>
            <a:off x="436666" y="3998568"/>
            <a:ext cx="1181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⤷ Общая Wi-Fi сеть</a:t>
            </a:r>
            <a:endParaRPr lang="en-US" sz="493" dirty="0"/>
          </a:p>
        </p:txBody>
      </p:sp>
      <p:sp>
        <p:nvSpPr>
          <p:cNvPr id="18" name="Shape 14"/>
          <p:cNvSpPr/>
          <p:nvPr/>
        </p:nvSpPr>
        <p:spPr>
          <a:xfrm>
            <a:off x="2428059" y="1376362"/>
            <a:ext cx="2061482" cy="2939673"/>
          </a:xfrm>
          <a:prstGeom prst="rect">
            <a:avLst/>
          </a:prstGeom>
          <a:solidFill>
            <a:srgbClr val="101017"/>
          </a:solidFill>
          <a:ln/>
        </p:spPr>
      </p:sp>
      <p:sp>
        <p:nvSpPr>
          <p:cNvPr id="19" name="Shape 15"/>
          <p:cNvSpPr/>
          <p:nvPr/>
        </p:nvSpPr>
        <p:spPr>
          <a:xfrm>
            <a:off x="4489540" y="1376363"/>
            <a:ext cx="41230" cy="2939673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0" name="Shape 16"/>
          <p:cNvSpPr/>
          <p:nvPr/>
        </p:nvSpPr>
        <p:spPr>
          <a:xfrm>
            <a:off x="2584731" y="3285295"/>
            <a:ext cx="1752260" cy="482387"/>
          </a:xfrm>
          <a:prstGeom prst="roundRect">
            <a:avLst/>
          </a:prstGeom>
          <a:solidFill>
            <a:srgbClr val="30303B">
              <a:alpha val="70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2428059" y="4225330"/>
            <a:ext cx="2061482" cy="90705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2" name="Shape 18"/>
          <p:cNvSpPr/>
          <p:nvPr/>
        </p:nvSpPr>
        <p:spPr>
          <a:xfrm>
            <a:off x="2428059" y="1376362"/>
            <a:ext cx="41230" cy="284896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3" name="Shape 19"/>
          <p:cNvSpPr/>
          <p:nvPr/>
        </p:nvSpPr>
        <p:spPr>
          <a:xfrm>
            <a:off x="2469289" y="1376363"/>
            <a:ext cx="2020253" cy="8658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4" name="Shape 20"/>
          <p:cNvSpPr/>
          <p:nvPr/>
        </p:nvSpPr>
        <p:spPr>
          <a:xfrm>
            <a:off x="2527011" y="1524789"/>
            <a:ext cx="309222" cy="30922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5" name="Text 21"/>
          <p:cNvSpPr/>
          <p:nvPr/>
        </p:nvSpPr>
        <p:spPr>
          <a:xfrm>
            <a:off x="2621838" y="1623740"/>
            <a:ext cx="119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2</a:t>
            </a:r>
            <a:endParaRPr lang="en-US" sz="856" dirty="0"/>
          </a:p>
        </p:txBody>
      </p:sp>
      <p:sp>
        <p:nvSpPr>
          <p:cNvPr id="26" name="Text 22"/>
          <p:cNvSpPr/>
          <p:nvPr/>
        </p:nvSpPr>
        <p:spPr>
          <a:xfrm>
            <a:off x="2527011" y="2023668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Wi-Fi Direct P2P</a:t>
            </a:r>
            <a:endParaRPr lang="en-US" sz="856" dirty="0"/>
          </a:p>
        </p:txBody>
      </p:sp>
      <p:sp>
        <p:nvSpPr>
          <p:cNvPr id="27" name="Text 23"/>
          <p:cNvSpPr/>
          <p:nvPr/>
        </p:nvSpPr>
        <p:spPr>
          <a:xfrm>
            <a:off x="2584731" y="2349382"/>
            <a:ext cx="1052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7"/>
              </a:lnSpc>
              <a:buNone/>
            </a:pPr>
            <a:r>
              <a:rPr lang="en-US" sz="61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Как работает:</a:t>
            </a:r>
            <a:endParaRPr lang="en-US" sz="617" dirty="0"/>
          </a:p>
        </p:txBody>
      </p:sp>
      <p:sp>
        <p:nvSpPr>
          <p:cNvPr id="28" name="Text 24"/>
          <p:cNvSpPr/>
          <p:nvPr/>
        </p:nvSpPr>
        <p:spPr>
          <a:xfrm>
            <a:off x="2621838" y="2563776"/>
            <a:ext cx="1686292" cy="791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Одно устройство становится программной точкой доступа (Group Owner), второе подключается напрямую. Между ними устанавливается выделенная P2P-сессия без внешней инфраструктуры.</a:t>
            </a:r>
            <a:endParaRPr lang="en-US" sz="493" dirty="0"/>
          </a:p>
        </p:txBody>
      </p:sp>
      <p:sp>
        <p:nvSpPr>
          <p:cNvPr id="29" name="Text 25"/>
          <p:cNvSpPr/>
          <p:nvPr/>
        </p:nvSpPr>
        <p:spPr>
          <a:xfrm>
            <a:off x="2749651" y="3396615"/>
            <a:ext cx="141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Не нужна инфраструктура · Высокая пропускная способность</a:t>
            </a:r>
            <a:endParaRPr lang="en-US" sz="493" dirty="0"/>
          </a:p>
        </p:txBody>
      </p:sp>
      <p:sp>
        <p:nvSpPr>
          <p:cNvPr id="30" name="Text 26"/>
          <p:cNvSpPr/>
          <p:nvPr/>
        </p:nvSpPr>
        <p:spPr>
          <a:xfrm>
            <a:off x="2584731" y="3998568"/>
            <a:ext cx="131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⤷ Нет общего роутера</a:t>
            </a:r>
            <a:endParaRPr lang="en-US" sz="493" dirty="0"/>
          </a:p>
        </p:txBody>
      </p:sp>
      <p:sp>
        <p:nvSpPr>
          <p:cNvPr id="31" name="Shape 27"/>
          <p:cNvSpPr/>
          <p:nvPr/>
        </p:nvSpPr>
        <p:spPr>
          <a:xfrm>
            <a:off x="4613230" y="1376363"/>
            <a:ext cx="2061482" cy="2939673"/>
          </a:xfrm>
          <a:prstGeom prst="rect">
            <a:avLst/>
          </a:prstGeom>
          <a:solidFill>
            <a:srgbClr val="101017"/>
          </a:solidFill>
          <a:ln/>
        </p:spPr>
      </p:sp>
      <p:sp>
        <p:nvSpPr>
          <p:cNvPr id="32" name="Shape 28"/>
          <p:cNvSpPr/>
          <p:nvPr/>
        </p:nvSpPr>
        <p:spPr>
          <a:xfrm>
            <a:off x="4769902" y="3285295"/>
            <a:ext cx="1752260" cy="482387"/>
          </a:xfrm>
          <a:prstGeom prst="roundRect">
            <a:avLst/>
          </a:prstGeom>
          <a:solidFill>
            <a:srgbClr val="30303B">
              <a:alpha val="70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4613230" y="4225330"/>
            <a:ext cx="2061482" cy="90705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4" name="Shape 30"/>
          <p:cNvSpPr/>
          <p:nvPr/>
        </p:nvSpPr>
        <p:spPr>
          <a:xfrm>
            <a:off x="4613230" y="1376363"/>
            <a:ext cx="41230" cy="284896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5" name="Shape 31"/>
          <p:cNvSpPr/>
          <p:nvPr/>
        </p:nvSpPr>
        <p:spPr>
          <a:xfrm>
            <a:off x="4654460" y="1376363"/>
            <a:ext cx="2020253" cy="8658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6" name="Shape 32"/>
          <p:cNvSpPr/>
          <p:nvPr/>
        </p:nvSpPr>
        <p:spPr>
          <a:xfrm>
            <a:off x="4712180" y="1524789"/>
            <a:ext cx="309222" cy="30922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37" name="Text 33"/>
          <p:cNvSpPr/>
          <p:nvPr/>
        </p:nvSpPr>
        <p:spPr>
          <a:xfrm>
            <a:off x="4807009" y="1623740"/>
            <a:ext cx="119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3</a:t>
            </a:r>
            <a:endParaRPr lang="en-US" sz="856" dirty="0"/>
          </a:p>
        </p:txBody>
      </p:sp>
      <p:sp>
        <p:nvSpPr>
          <p:cNvPr id="38" name="Text 34"/>
          <p:cNvSpPr/>
          <p:nvPr/>
        </p:nvSpPr>
        <p:spPr>
          <a:xfrm>
            <a:off x="4712180" y="2023668"/>
            <a:ext cx="19097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BLE Advertisement</a:t>
            </a:r>
            <a:endParaRPr lang="en-US" sz="856" dirty="0"/>
          </a:p>
        </p:txBody>
      </p:sp>
      <p:sp>
        <p:nvSpPr>
          <p:cNvPr id="39" name="Text 35"/>
          <p:cNvSpPr/>
          <p:nvPr/>
        </p:nvSpPr>
        <p:spPr>
          <a:xfrm>
            <a:off x="4769902" y="2349382"/>
            <a:ext cx="1052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7"/>
              </a:lnSpc>
              <a:buNone/>
            </a:pPr>
            <a:r>
              <a:rPr lang="en-US" sz="61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Как работает:</a:t>
            </a:r>
            <a:endParaRPr lang="en-US" sz="617" dirty="0"/>
          </a:p>
        </p:txBody>
      </p:sp>
      <p:sp>
        <p:nvSpPr>
          <p:cNvPr id="40" name="Text 36"/>
          <p:cNvSpPr/>
          <p:nvPr/>
        </p:nvSpPr>
        <p:spPr>
          <a:xfrm>
            <a:off x="4807009" y="2563776"/>
            <a:ext cx="1686292" cy="791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Устройство непрерывно транслирует BLE-пакет с идентификатором узла. Окружающие устройства сканируют эфир и, обнаружив пакет MeshLink, инициируют установку соединения через доступный транспорт.</a:t>
            </a:r>
            <a:endParaRPr lang="en-US" sz="493" dirty="0"/>
          </a:p>
        </p:txBody>
      </p:sp>
      <p:sp>
        <p:nvSpPr>
          <p:cNvPr id="41" name="Text 37"/>
          <p:cNvSpPr/>
          <p:nvPr/>
        </p:nvSpPr>
        <p:spPr>
          <a:xfrm>
            <a:off x="4897715" y="3462582"/>
            <a:ext cx="1418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Работает без Wi-Fi· Обнаружение в фоне</a:t>
            </a:r>
            <a:endParaRPr lang="en-US" sz="493" dirty="0"/>
          </a:p>
        </p:txBody>
      </p:sp>
      <p:sp>
        <p:nvSpPr>
          <p:cNvPr id="42" name="Text 38"/>
          <p:cNvSpPr/>
          <p:nvPr/>
        </p:nvSpPr>
        <p:spPr>
          <a:xfrm>
            <a:off x="4835870" y="3998568"/>
            <a:ext cx="1181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⤷ Wi-Fi недоступен</a:t>
            </a:r>
            <a:endParaRPr lang="en-US" sz="493" dirty="0"/>
          </a:p>
        </p:txBody>
      </p:sp>
      <p:sp>
        <p:nvSpPr>
          <p:cNvPr id="43" name="Shape 39"/>
          <p:cNvSpPr/>
          <p:nvPr/>
        </p:nvSpPr>
        <p:spPr>
          <a:xfrm>
            <a:off x="6674711" y="1376363"/>
            <a:ext cx="41230" cy="2939673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4" name="Shape 40"/>
          <p:cNvSpPr/>
          <p:nvPr/>
        </p:nvSpPr>
        <p:spPr>
          <a:xfrm>
            <a:off x="6798404" y="1376363"/>
            <a:ext cx="2061482" cy="2939673"/>
          </a:xfrm>
          <a:prstGeom prst="rect">
            <a:avLst/>
          </a:prstGeom>
          <a:solidFill>
            <a:srgbClr val="101017"/>
          </a:solidFill>
          <a:ln/>
        </p:spPr>
      </p:sp>
      <p:sp>
        <p:nvSpPr>
          <p:cNvPr id="45" name="Shape 41"/>
          <p:cNvSpPr/>
          <p:nvPr/>
        </p:nvSpPr>
        <p:spPr>
          <a:xfrm>
            <a:off x="8859887" y="1376363"/>
            <a:ext cx="41230" cy="2939673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6" name="Shape 42"/>
          <p:cNvSpPr/>
          <p:nvPr/>
        </p:nvSpPr>
        <p:spPr>
          <a:xfrm>
            <a:off x="6955075" y="3285295"/>
            <a:ext cx="1752260" cy="482387"/>
          </a:xfrm>
          <a:prstGeom prst="roundRect">
            <a:avLst/>
          </a:prstGeom>
          <a:solidFill>
            <a:srgbClr val="30303B">
              <a:alpha val="70000"/>
            </a:srgbClr>
          </a:solidFill>
          <a:ln/>
        </p:spPr>
      </p:sp>
      <p:sp>
        <p:nvSpPr>
          <p:cNvPr id="47" name="Shape 43"/>
          <p:cNvSpPr/>
          <p:nvPr/>
        </p:nvSpPr>
        <p:spPr>
          <a:xfrm>
            <a:off x="6798404" y="4225330"/>
            <a:ext cx="2061482" cy="90705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8" name="Shape 44"/>
          <p:cNvSpPr/>
          <p:nvPr/>
        </p:nvSpPr>
        <p:spPr>
          <a:xfrm>
            <a:off x="6798404" y="1376363"/>
            <a:ext cx="41230" cy="284896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9" name="Shape 45"/>
          <p:cNvSpPr/>
          <p:nvPr/>
        </p:nvSpPr>
        <p:spPr>
          <a:xfrm>
            <a:off x="6839634" y="1376363"/>
            <a:ext cx="2020253" cy="8658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50" name="Shape 46"/>
          <p:cNvSpPr/>
          <p:nvPr/>
        </p:nvSpPr>
        <p:spPr>
          <a:xfrm>
            <a:off x="6897353" y="1524789"/>
            <a:ext cx="309222" cy="30922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51" name="Text 47"/>
          <p:cNvSpPr/>
          <p:nvPr/>
        </p:nvSpPr>
        <p:spPr>
          <a:xfrm>
            <a:off x="6992183" y="1623740"/>
            <a:ext cx="119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4</a:t>
            </a:r>
            <a:endParaRPr lang="en-US" sz="856" dirty="0"/>
          </a:p>
        </p:txBody>
      </p:sp>
      <p:sp>
        <p:nvSpPr>
          <p:cNvPr id="52" name="Text 48"/>
          <p:cNvSpPr/>
          <p:nvPr/>
        </p:nvSpPr>
        <p:spPr>
          <a:xfrm>
            <a:off x="6897353" y="2023668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NSD / mDNS</a:t>
            </a:r>
            <a:endParaRPr lang="en-US" sz="856" dirty="0"/>
          </a:p>
        </p:txBody>
      </p:sp>
      <p:sp>
        <p:nvSpPr>
          <p:cNvPr id="53" name="Text 49"/>
          <p:cNvSpPr/>
          <p:nvPr/>
        </p:nvSpPr>
        <p:spPr>
          <a:xfrm>
            <a:off x="6955075" y="2349382"/>
            <a:ext cx="1052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7"/>
              </a:lnSpc>
              <a:buNone/>
            </a:pPr>
            <a:r>
              <a:rPr lang="en-US" sz="61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Как работает:</a:t>
            </a:r>
            <a:endParaRPr lang="en-US" sz="617" dirty="0"/>
          </a:p>
        </p:txBody>
      </p:sp>
      <p:sp>
        <p:nvSpPr>
          <p:cNvPr id="54" name="Text 50"/>
          <p:cNvSpPr/>
          <p:nvPr/>
        </p:nvSpPr>
        <p:spPr>
          <a:xfrm>
            <a:off x="6992183" y="2563776"/>
            <a:ext cx="1686292" cy="791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Устройство непрерывно транслирует BLE-пакет с идентификатором узла. Окружающие устройства сканируют эфир и, обнаружив пакет MeshLink, инициируют установку соединения через доступный транспорт.</a:t>
            </a:r>
            <a:endParaRPr lang="en-US" sz="493" dirty="0"/>
          </a:p>
        </p:txBody>
      </p:sp>
      <p:sp>
        <p:nvSpPr>
          <p:cNvPr id="55" name="Text 51"/>
          <p:cNvSpPr/>
          <p:nvPr/>
        </p:nvSpPr>
        <p:spPr>
          <a:xfrm>
            <a:off x="7082889" y="3462582"/>
            <a:ext cx="1418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Работает без Wi-Fi· Обнаружение в фоне</a:t>
            </a:r>
            <a:endParaRPr lang="en-US" sz="493" dirty="0"/>
          </a:p>
        </p:txBody>
      </p:sp>
      <p:sp>
        <p:nvSpPr>
          <p:cNvPr id="56" name="Text 52"/>
          <p:cNvSpPr/>
          <p:nvPr/>
        </p:nvSpPr>
        <p:spPr>
          <a:xfrm>
            <a:off x="7021041" y="3998568"/>
            <a:ext cx="1181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⤷ Wi-Fi недоступен</a:t>
            </a:r>
            <a:endParaRPr lang="en-US" sz="493" dirty="0"/>
          </a:p>
        </p:txBody>
      </p:sp>
      <p:sp>
        <p:nvSpPr>
          <p:cNvPr id="57" name="Shape 53"/>
          <p:cNvSpPr/>
          <p:nvPr/>
        </p:nvSpPr>
        <p:spPr>
          <a:xfrm>
            <a:off x="285750" y="4491038"/>
            <a:ext cx="8615363" cy="419100"/>
          </a:xfrm>
          <a:prstGeom prst="roundRect">
            <a:avLst/>
          </a:prstGeom>
          <a:solidFill>
            <a:srgbClr val="00C853"/>
          </a:solidFill>
          <a:ln/>
        </p:spPr>
      </p:sp>
      <p:sp>
        <p:nvSpPr>
          <p:cNvPr id="58" name="Text 54"/>
          <p:cNvSpPr/>
          <p:nvPr/>
        </p:nvSpPr>
        <p:spPr>
          <a:xfrm>
            <a:off x="576263" y="4652963"/>
            <a:ext cx="84534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570" spc="28" kern="0" dirty="0">
                <a:solidFill>
                  <a:srgbClr val="000000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Каналы работают параллельно — первый успешный анонс запускает сессию.  Нет единой точки отказа.</a:t>
            </a:r>
            <a:endParaRPr lang="en-US" sz="570" dirty="0"/>
          </a:p>
        </p:txBody>
      </p:sp>
      <p:sp>
        <p:nvSpPr>
          <p:cNvPr id="59" name="Text 55"/>
          <p:cNvSpPr/>
          <p:nvPr/>
        </p:nvSpPr>
        <p:spPr>
          <a:xfrm>
            <a:off x="7705725" y="5029200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22286" t="0" b="0"/>
          <a:stretch/>
        </p:blipFill>
        <p:spPr>
          <a:xfrm>
            <a:off x="7795189" y="632388"/>
            <a:ext cx="1348811" cy="17355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43217" t="0" b="28763"/>
          <a:stretch/>
        </p:blipFill>
        <p:spPr>
          <a:xfrm>
            <a:off x="7529512" y="366713"/>
            <a:ext cx="1287252" cy="16149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42888" y="261937"/>
            <a:ext cx="8420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Mesh-маршрутизация и мультихоп</a:t>
            </a:r>
            <a:endParaRPr lang="en-US" sz="3420" dirty="0"/>
          </a:p>
        </p:txBody>
      </p:sp>
      <p:sp>
        <p:nvSpPr>
          <p:cNvPr id="5" name="Shape 1"/>
          <p:cNvSpPr/>
          <p:nvPr/>
        </p:nvSpPr>
        <p:spPr>
          <a:xfrm>
            <a:off x="242888" y="1376859"/>
            <a:ext cx="4848225" cy="2281238"/>
          </a:xfrm>
          <a:prstGeom prst="roundRect">
            <a:avLst/>
          </a:prstGeom>
          <a:solidFill>
            <a:srgbClr val="262630"/>
          </a:solidFill>
          <a:ln/>
        </p:spPr>
      </p:sp>
      <p:sp>
        <p:nvSpPr>
          <p:cNvPr id="6" name="Shape 2"/>
          <p:cNvSpPr/>
          <p:nvPr/>
        </p:nvSpPr>
        <p:spPr>
          <a:xfrm>
            <a:off x="646519" y="2631412"/>
            <a:ext cx="564403" cy="556641"/>
          </a:xfrm>
          <a:prstGeom prst="ellipse">
            <a:avLst/>
          </a:prstGeom>
          <a:solidFill>
            <a:srgbClr val="00C853"/>
          </a:solidFill>
          <a:ln w="2644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38414" y="2820670"/>
            <a:ext cx="18349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1332" spc="-2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</a:t>
            </a:r>
            <a:endParaRPr lang="en-US" sz="1332" dirty="0"/>
          </a:p>
        </p:txBody>
      </p:sp>
      <p:sp>
        <p:nvSpPr>
          <p:cNvPr id="8" name="Shape 4"/>
          <p:cNvSpPr/>
          <p:nvPr/>
        </p:nvSpPr>
        <p:spPr>
          <a:xfrm>
            <a:off x="2565490" y="1601625"/>
            <a:ext cx="564403" cy="556641"/>
          </a:xfrm>
          <a:prstGeom prst="ellipse">
            <a:avLst/>
          </a:prstGeom>
          <a:solidFill>
            <a:srgbClr val="00C853"/>
          </a:solidFill>
          <a:ln w="2644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57385" y="1790884"/>
            <a:ext cx="18349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1332" spc="-2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</a:t>
            </a:r>
            <a:endParaRPr lang="en-US" sz="1332" dirty="0"/>
          </a:p>
        </p:txBody>
      </p:sp>
      <p:sp>
        <p:nvSpPr>
          <p:cNvPr id="10" name="Shape 6"/>
          <p:cNvSpPr/>
          <p:nvPr/>
        </p:nvSpPr>
        <p:spPr>
          <a:xfrm>
            <a:off x="4298207" y="2631412"/>
            <a:ext cx="564403" cy="556641"/>
          </a:xfrm>
          <a:prstGeom prst="ellipse">
            <a:avLst/>
          </a:prstGeom>
          <a:solidFill>
            <a:srgbClr val="00C853"/>
          </a:solidFill>
          <a:ln w="2644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90103" y="2820670"/>
            <a:ext cx="18349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1332" spc="-2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</a:t>
            </a:r>
            <a:endParaRPr lang="en-US" sz="1332" dirty="0"/>
          </a:p>
        </p:txBody>
      </p:sp>
      <p:sp>
        <p:nvSpPr>
          <p:cNvPr id="12" name="Shape 8"/>
          <p:cNvSpPr/>
          <p:nvPr/>
        </p:nvSpPr>
        <p:spPr>
          <a:xfrm rot="-1442084">
            <a:off x="1176633" y="2370666"/>
            <a:ext cx="1421362" cy="0"/>
          </a:xfrm>
          <a:prstGeom prst="line">
            <a:avLst/>
          </a:prstGeom>
          <a:noFill/>
          <a:ln w="31729">
            <a:solidFill>
              <a:srgbClr val="54DD8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rot="0">
            <a:off x="1481840" y="2909733"/>
            <a:ext cx="2568035" cy="0"/>
          </a:xfrm>
          <a:prstGeom prst="line">
            <a:avLst/>
          </a:prstGeom>
          <a:noFill/>
          <a:ln w="31729">
            <a:solidFill>
              <a:srgbClr val="54DD8D"/>
            </a:solidFill>
            <a:prstDash val="lgDash"/>
          </a:ln>
        </p:spPr>
      </p:sp>
      <p:sp>
        <p:nvSpPr>
          <p:cNvPr id="14" name="Shape 10"/>
          <p:cNvSpPr/>
          <p:nvPr/>
        </p:nvSpPr>
        <p:spPr>
          <a:xfrm rot="2047452">
            <a:off x="3123778" y="2216719"/>
            <a:ext cx="1111321" cy="0"/>
          </a:xfrm>
          <a:prstGeom prst="line">
            <a:avLst/>
          </a:prstGeom>
          <a:noFill/>
          <a:ln w="31729">
            <a:solidFill>
              <a:srgbClr val="54DD8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3453" y="3293816"/>
            <a:ext cx="536009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0a9df3</a:t>
            </a:r>
            <a:endParaRPr lang="en-US" sz="666" dirty="0"/>
          </a:p>
        </p:txBody>
      </p:sp>
      <p:sp>
        <p:nvSpPr>
          <p:cNvPr id="16" name="Text 12"/>
          <p:cNvSpPr/>
          <p:nvPr/>
        </p:nvSpPr>
        <p:spPr>
          <a:xfrm>
            <a:off x="4315141" y="3293816"/>
            <a:ext cx="536009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a1b2c3</a:t>
            </a:r>
            <a:endParaRPr lang="en-US" sz="666" dirty="0"/>
          </a:p>
        </p:txBody>
      </p:sp>
      <p:sp>
        <p:nvSpPr>
          <p:cNvPr id="17" name="Text 13"/>
          <p:cNvSpPr/>
          <p:nvPr/>
        </p:nvSpPr>
        <p:spPr>
          <a:xfrm>
            <a:off x="2582419" y="2664811"/>
            <a:ext cx="536009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6fd573</a:t>
            </a:r>
            <a:endParaRPr lang="en-US" sz="666" dirty="0"/>
          </a:p>
        </p:txBody>
      </p:sp>
      <p:sp>
        <p:nvSpPr>
          <p:cNvPr id="18" name="Text 14"/>
          <p:cNvSpPr/>
          <p:nvPr/>
        </p:nvSpPr>
        <p:spPr>
          <a:xfrm>
            <a:off x="646519" y="1557094"/>
            <a:ext cx="15983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Топология — пример</a:t>
            </a:r>
            <a:endParaRPr lang="en-US" sz="666" dirty="0"/>
          </a:p>
        </p:txBody>
      </p:sp>
      <p:sp>
        <p:nvSpPr>
          <p:cNvPr id="19" name="Text 15"/>
          <p:cNvSpPr/>
          <p:nvPr/>
        </p:nvSpPr>
        <p:spPr>
          <a:xfrm>
            <a:off x="1916427" y="3054460"/>
            <a:ext cx="18639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 не видит C напрямую</a:t>
            </a:r>
            <a:endParaRPr lang="en-US" sz="666" dirty="0"/>
          </a:p>
        </p:txBody>
      </p:sp>
      <p:sp>
        <p:nvSpPr>
          <p:cNvPr id="20" name="Text 16"/>
          <p:cNvSpPr/>
          <p:nvPr/>
        </p:nvSpPr>
        <p:spPr>
          <a:xfrm>
            <a:off x="242888" y="4138613"/>
            <a:ext cx="18639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Реальные логи - пример маршрутизации</a:t>
            </a:r>
            <a:endParaRPr lang="en-US" sz="666" dirty="0"/>
          </a:p>
        </p:txBody>
      </p:sp>
      <p:sp>
        <p:nvSpPr>
          <p:cNvPr id="21" name="Text 17"/>
          <p:cNvSpPr/>
          <p:nvPr/>
        </p:nvSpPr>
        <p:spPr>
          <a:xfrm>
            <a:off x="242888" y="4795838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Announce from=192.168.49.1  </a:t>
            </a:r>
            <a:endParaRPr lang="en-US" sz="427" dirty="0"/>
          </a:p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peer=6fd573</a:t>
            </a:r>
            <a:endParaRPr lang="en-US" sz="427" dirty="0"/>
          </a:p>
        </p:txBody>
      </p:sp>
      <p:sp>
        <p:nvSpPr>
          <p:cNvPr id="22" name="Shape 18"/>
          <p:cNvSpPr/>
          <p:nvPr/>
        </p:nvSpPr>
        <p:spPr>
          <a:xfrm>
            <a:off x="5148263" y="1376363"/>
            <a:ext cx="3805237" cy="3381375"/>
          </a:xfrm>
          <a:prstGeom prst="roundRect">
            <a:avLst/>
          </a:prstGeom>
          <a:solidFill>
            <a:srgbClr val="262630"/>
          </a:solidFill>
          <a:ln/>
        </p:spPr>
      </p:sp>
      <p:sp>
        <p:nvSpPr>
          <p:cNvPr id="23" name="Shape 19"/>
          <p:cNvSpPr/>
          <p:nvPr/>
        </p:nvSpPr>
        <p:spPr>
          <a:xfrm>
            <a:off x="8858250" y="1376363"/>
            <a:ext cx="95250" cy="3381375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4" name="Text 20"/>
          <p:cNvSpPr/>
          <p:nvPr/>
        </p:nvSpPr>
        <p:spPr>
          <a:xfrm>
            <a:off x="5424734" y="1479051"/>
            <a:ext cx="248126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2"/>
              </a:lnSpc>
              <a:buNone/>
            </a:pPr>
            <a:r>
              <a:rPr lang="en-US" sz="1182" spc="-2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Детали алгоритма</a:t>
            </a:r>
            <a:endParaRPr lang="en-US" sz="1182" dirty="0"/>
          </a:p>
        </p:txBody>
      </p:sp>
      <p:sp>
        <p:nvSpPr>
          <p:cNvPr id="25" name="Text 21"/>
          <p:cNvSpPr/>
          <p:nvPr/>
        </p:nvSpPr>
        <p:spPr>
          <a:xfrm>
            <a:off x="5298346" y="2000395"/>
            <a:ext cx="623888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MAX_HOPS</a:t>
            </a:r>
            <a:endParaRPr lang="en-US" sz="591" dirty="0"/>
          </a:p>
        </p:txBody>
      </p:sp>
      <p:sp>
        <p:nvSpPr>
          <p:cNvPr id="26" name="Text 22"/>
          <p:cNvSpPr/>
          <p:nvPr/>
        </p:nvSpPr>
        <p:spPr>
          <a:xfrm>
            <a:off x="8584392" y="1956950"/>
            <a:ext cx="904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4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5298346" y="2276866"/>
            <a:ext cx="10096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ROUTE_TIMEOUT</a:t>
            </a:r>
            <a:endParaRPr lang="en-US" sz="591" dirty="0"/>
          </a:p>
        </p:txBody>
      </p:sp>
      <p:sp>
        <p:nvSpPr>
          <p:cNvPr id="28" name="Text 24"/>
          <p:cNvSpPr/>
          <p:nvPr/>
        </p:nvSpPr>
        <p:spPr>
          <a:xfrm>
            <a:off x="8205234" y="2261067"/>
            <a:ext cx="5134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60 сек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5298346" y="2632328"/>
            <a:ext cx="10096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ROUTE_TIMEOUT</a:t>
            </a:r>
            <a:endParaRPr lang="en-US" sz="591" dirty="0"/>
          </a:p>
        </p:txBody>
      </p:sp>
      <p:sp>
        <p:nvSpPr>
          <p:cNvPr id="30" name="Text 26"/>
          <p:cNvSpPr/>
          <p:nvPr/>
        </p:nvSpPr>
        <p:spPr>
          <a:xfrm>
            <a:off x="8205234" y="2573084"/>
            <a:ext cx="5134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60 сек</a:t>
            </a:r>
            <a:endParaRPr lang="en-US" sz="650" dirty="0"/>
          </a:p>
        </p:txBody>
      </p:sp>
      <p:sp>
        <p:nvSpPr>
          <p:cNvPr id="31" name="Text 27"/>
          <p:cNvSpPr/>
          <p:nvPr/>
        </p:nvSpPr>
        <p:spPr>
          <a:xfrm>
            <a:off x="5298346" y="2987789"/>
            <a:ext cx="1319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Функция стоимости</a:t>
            </a:r>
            <a:endParaRPr lang="en-US" sz="591" dirty="0"/>
          </a:p>
        </p:txBody>
      </p:sp>
      <p:sp>
        <p:nvSpPr>
          <p:cNvPr id="32" name="Text 28"/>
          <p:cNvSpPr/>
          <p:nvPr/>
        </p:nvSpPr>
        <p:spPr>
          <a:xfrm>
            <a:off x="7644394" y="2971991"/>
            <a:ext cx="10239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RTT + потери</a:t>
            </a:r>
            <a:endParaRPr lang="en-US" sz="650" dirty="0"/>
          </a:p>
          <a:p>
            <a:pPr algn="r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+ хопы</a:t>
            </a:r>
            <a:endParaRPr lang="en-US" sz="650" dirty="0"/>
          </a:p>
        </p:txBody>
      </p:sp>
      <p:sp>
        <p:nvSpPr>
          <p:cNvPr id="33" name="Text 29"/>
          <p:cNvSpPr/>
          <p:nvPr/>
        </p:nvSpPr>
        <p:spPr>
          <a:xfrm>
            <a:off x="5298346" y="3343251"/>
            <a:ext cx="11668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Сглаживание RTT</a:t>
            </a:r>
            <a:endParaRPr lang="en-US" sz="591" dirty="0"/>
          </a:p>
        </p:txBody>
      </p:sp>
      <p:sp>
        <p:nvSpPr>
          <p:cNvPr id="34" name="Text 30"/>
          <p:cNvSpPr/>
          <p:nvPr/>
        </p:nvSpPr>
        <p:spPr>
          <a:xfrm>
            <a:off x="7431114" y="3362999"/>
            <a:ext cx="13665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EWMA (коэф. 7/8)</a:t>
            </a:r>
            <a:endParaRPr lang="en-US" sz="650" dirty="0"/>
          </a:p>
        </p:txBody>
      </p:sp>
      <p:sp>
        <p:nvSpPr>
          <p:cNvPr id="35" name="Text 31"/>
          <p:cNvSpPr/>
          <p:nvPr/>
        </p:nvSpPr>
        <p:spPr>
          <a:xfrm>
            <a:off x="5298346" y="3698713"/>
            <a:ext cx="10096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Защита петель</a:t>
            </a:r>
            <a:endParaRPr lang="en-US" sz="591" dirty="0"/>
          </a:p>
        </p:txBody>
      </p:sp>
      <p:sp>
        <p:nvSpPr>
          <p:cNvPr id="36" name="Text 32"/>
          <p:cNvSpPr/>
          <p:nvPr/>
        </p:nvSpPr>
        <p:spPr>
          <a:xfrm>
            <a:off x="7273133" y="3702663"/>
            <a:ext cx="15363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TTL + Deduplicator</a:t>
            </a:r>
            <a:endParaRPr lang="en-US" sz="650" dirty="0"/>
          </a:p>
        </p:txBody>
      </p:sp>
      <p:sp>
        <p:nvSpPr>
          <p:cNvPr id="37" name="Text 33"/>
          <p:cNvSpPr/>
          <p:nvPr/>
        </p:nvSpPr>
        <p:spPr>
          <a:xfrm>
            <a:off x="5298346" y="4054175"/>
            <a:ext cx="857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При разрыве</a:t>
            </a:r>
            <a:endParaRPr lang="en-US" sz="591" dirty="0"/>
          </a:p>
        </p:txBody>
      </p:sp>
      <p:sp>
        <p:nvSpPr>
          <p:cNvPr id="38" name="Text 34"/>
          <p:cNvSpPr/>
          <p:nvPr/>
        </p:nvSpPr>
        <p:spPr>
          <a:xfrm>
            <a:off x="7225740" y="4054175"/>
            <a:ext cx="14525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Маршрут удаляется</a:t>
            </a:r>
            <a:endParaRPr lang="en-US" sz="650" dirty="0"/>
          </a:p>
          <a:p>
            <a:pPr algn="r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через 60с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 rot="0">
            <a:off x="5298346" y="3915939"/>
            <a:ext cx="3499324" cy="0"/>
          </a:xfrm>
          <a:prstGeom prst="line">
            <a:avLst/>
          </a:prstGeom>
          <a:noFill/>
          <a:ln w="11256">
            <a:solidFill>
              <a:srgbClr val="806DB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 rot="0">
            <a:off x="5310197" y="3536780"/>
            <a:ext cx="3499324" cy="0"/>
          </a:xfrm>
          <a:prstGeom prst="line">
            <a:avLst/>
          </a:prstGeom>
          <a:noFill/>
          <a:ln w="11256">
            <a:solidFill>
              <a:srgbClr val="806DB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 rot="0">
            <a:off x="5310197" y="3173419"/>
            <a:ext cx="3499324" cy="0"/>
          </a:xfrm>
          <a:prstGeom prst="line">
            <a:avLst/>
          </a:prstGeom>
          <a:noFill/>
          <a:ln w="11256">
            <a:solidFill>
              <a:srgbClr val="806DB8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 rot="0">
            <a:off x="5310197" y="2790310"/>
            <a:ext cx="3499324" cy="0"/>
          </a:xfrm>
          <a:prstGeom prst="line">
            <a:avLst/>
          </a:prstGeom>
          <a:noFill/>
          <a:ln w="11256">
            <a:solidFill>
              <a:srgbClr val="806DB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 rot="0">
            <a:off x="5310197" y="2462496"/>
            <a:ext cx="3499324" cy="0"/>
          </a:xfrm>
          <a:prstGeom prst="line">
            <a:avLst/>
          </a:prstGeom>
          <a:noFill/>
          <a:ln w="11256">
            <a:solidFill>
              <a:srgbClr val="806DB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 rot="0">
            <a:off x="5298346" y="2146530"/>
            <a:ext cx="3499324" cy="0"/>
          </a:xfrm>
          <a:prstGeom prst="line">
            <a:avLst/>
          </a:prstGeom>
          <a:noFill/>
          <a:ln w="11256">
            <a:solidFill>
              <a:srgbClr val="806DB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405438" y="4533900"/>
            <a:ext cx="3290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570" spc="-11" kern="0" dirty="0">
                <a:solidFill>
                  <a:srgbClr val="806DB8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cost = hops×100 + RTT/10 + loss×2 + fails×50</a:t>
            </a:r>
            <a:endParaRPr lang="en-US" sz="570" dirty="0"/>
          </a:p>
        </p:txBody>
      </p:sp>
      <p:sp>
        <p:nvSpPr>
          <p:cNvPr id="46" name="Shape 42"/>
          <p:cNvSpPr/>
          <p:nvPr/>
        </p:nvSpPr>
        <p:spPr>
          <a:xfrm>
            <a:off x="242888" y="4471988"/>
            <a:ext cx="238125" cy="238125"/>
          </a:xfrm>
          <a:prstGeom prst="rect">
            <a:avLst/>
          </a:prstGeom>
          <a:solidFill>
            <a:srgbClr val="262630"/>
          </a:solidFill>
          <a:ln w="9049">
            <a:solidFill>
              <a:srgbClr val="00C85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14325" y="4543425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</a:t>
            </a:r>
            <a:endParaRPr lang="en-US" sz="713" dirty="0"/>
          </a:p>
        </p:txBody>
      </p:sp>
      <p:sp>
        <p:nvSpPr>
          <p:cNvPr id="48" name="Text 44"/>
          <p:cNvSpPr/>
          <p:nvPr/>
        </p:nvSpPr>
        <p:spPr>
          <a:xfrm>
            <a:off x="1938337" y="4795838"/>
            <a:ext cx="12239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Updated peer 'SM-A536E' @ 192.168.49.1</a:t>
            </a:r>
            <a:endParaRPr lang="en-US" sz="427" dirty="0"/>
          </a:p>
        </p:txBody>
      </p:sp>
      <p:sp>
        <p:nvSpPr>
          <p:cNvPr id="49" name="Shape 45"/>
          <p:cNvSpPr/>
          <p:nvPr/>
        </p:nvSpPr>
        <p:spPr>
          <a:xfrm>
            <a:off x="1938337" y="4471988"/>
            <a:ext cx="238125" cy="238125"/>
          </a:xfrm>
          <a:prstGeom prst="rect">
            <a:avLst/>
          </a:prstGeom>
          <a:solidFill>
            <a:srgbClr val="1515AA"/>
          </a:solidFill>
          <a:ln w="9049">
            <a:solidFill>
              <a:srgbClr val="00C853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2009775" y="4543425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V</a:t>
            </a:r>
            <a:endParaRPr lang="en-US" sz="713" dirty="0"/>
          </a:p>
        </p:txBody>
      </p:sp>
      <p:sp>
        <p:nvSpPr>
          <p:cNvPr id="51" name="Text 47"/>
          <p:cNvSpPr/>
          <p:nvPr/>
        </p:nvSpPr>
        <p:spPr>
          <a:xfrm>
            <a:off x="3429000" y="4795838"/>
            <a:ext cx="16144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route to a1b2c3  via 6fd573  hops=2  cost=243</a:t>
            </a:r>
            <a:endParaRPr lang="en-US" sz="427" dirty="0"/>
          </a:p>
        </p:txBody>
      </p:sp>
      <p:sp>
        <p:nvSpPr>
          <p:cNvPr id="52" name="Shape 48"/>
          <p:cNvSpPr/>
          <p:nvPr/>
        </p:nvSpPr>
        <p:spPr>
          <a:xfrm>
            <a:off x="3429000" y="4471988"/>
            <a:ext cx="238125" cy="238125"/>
          </a:xfrm>
          <a:prstGeom prst="rect">
            <a:avLst/>
          </a:prstGeom>
          <a:solidFill>
            <a:srgbClr val="B97D53"/>
          </a:solidFill>
          <a:ln w="9049">
            <a:solidFill>
              <a:srgbClr val="00C853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500438" y="4543425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</a:t>
            </a:r>
            <a:endParaRPr lang="en-US" sz="713" dirty="0"/>
          </a:p>
        </p:txBody>
      </p:sp>
      <p:sp>
        <p:nvSpPr>
          <p:cNvPr id="54" name="Text 50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261937"/>
            <a:ext cx="8420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Голосовые звонки в реальном времени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27774" t="0" b="0"/>
          <a:stretch/>
        </p:blipFill>
        <p:spPr>
          <a:xfrm>
            <a:off x="7890439" y="994338"/>
            <a:ext cx="1253561" cy="173559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47418" t="0" b="28763"/>
          <a:stretch/>
        </p:blipFill>
        <p:spPr>
          <a:xfrm>
            <a:off x="7624762" y="728663"/>
            <a:ext cx="1192002" cy="161491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85750" y="1376363"/>
            <a:ext cx="8572500" cy="1257300"/>
          </a:xfrm>
          <a:prstGeom prst="roundRect">
            <a:avLst/>
          </a:prstGeom>
          <a:solidFill>
            <a:srgbClr val="262630"/>
          </a:solidFill>
          <a:ln w="18097">
            <a:solidFill>
              <a:srgbClr val="A2A2A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23900" y="1376363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9"/>
              </a:lnSpc>
              <a:buNone/>
            </a:pPr>
            <a:r>
              <a:rPr lang="en-US" sz="499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Реальные замеры на Wi-Fi Direct</a:t>
            </a:r>
            <a:endParaRPr lang="en-US" sz="499" dirty="0"/>
          </a:p>
        </p:txBody>
      </p:sp>
      <p:sp>
        <p:nvSpPr>
          <p:cNvPr id="7" name="Text 3"/>
          <p:cNvSpPr/>
          <p:nvPr/>
        </p:nvSpPr>
        <p:spPr>
          <a:xfrm>
            <a:off x="723900" y="1862138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57мс</a:t>
            </a:r>
            <a:endParaRPr lang="en-US" sz="2280" dirty="0"/>
          </a:p>
        </p:txBody>
      </p:sp>
      <p:sp>
        <p:nvSpPr>
          <p:cNvPr id="8" name="Text 4"/>
          <p:cNvSpPr/>
          <p:nvPr/>
        </p:nvSpPr>
        <p:spPr>
          <a:xfrm>
            <a:off x="723900" y="230028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RTT (round-trip)</a:t>
            </a:r>
            <a:endParaRPr lang="en-US" sz="570" dirty="0"/>
          </a:p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Порог: &lt;150 мс </a:t>
            </a:r>
            <a:endParaRPr lang="en-US" sz="570" dirty="0"/>
          </a:p>
        </p:txBody>
      </p:sp>
      <p:sp>
        <p:nvSpPr>
          <p:cNvPr id="9" name="Text 5"/>
          <p:cNvSpPr/>
          <p:nvPr/>
        </p:nvSpPr>
        <p:spPr>
          <a:xfrm>
            <a:off x="2419350" y="1862138"/>
            <a:ext cx="152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~79мс</a:t>
            </a:r>
            <a:endParaRPr lang="en-US" sz="2280" dirty="0"/>
          </a:p>
        </p:txBody>
      </p:sp>
      <p:sp>
        <p:nvSpPr>
          <p:cNvPr id="10" name="Text 6"/>
          <p:cNvSpPr/>
          <p:nvPr/>
        </p:nvSpPr>
        <p:spPr>
          <a:xfrm>
            <a:off x="2738438" y="2300288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one-way задержка</a:t>
            </a:r>
            <a:endParaRPr lang="en-US" sz="570" dirty="0"/>
          </a:p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one-way &lt;100+- мс </a:t>
            </a:r>
            <a:endParaRPr lang="en-US" sz="570" dirty="0"/>
          </a:p>
        </p:txBody>
      </p:sp>
      <p:sp>
        <p:nvSpPr>
          <p:cNvPr id="11" name="Text 7"/>
          <p:cNvSpPr/>
          <p:nvPr/>
        </p:nvSpPr>
        <p:spPr>
          <a:xfrm>
            <a:off x="4586288" y="1862138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5-7%</a:t>
            </a:r>
            <a:endParaRPr lang="en-US" sz="2280" dirty="0"/>
          </a:p>
        </p:txBody>
      </p:sp>
      <p:sp>
        <p:nvSpPr>
          <p:cNvPr id="12" name="Text 8"/>
          <p:cNvSpPr/>
          <p:nvPr/>
        </p:nvSpPr>
        <p:spPr>
          <a:xfrm>
            <a:off x="4662488" y="2300288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потери пакетов</a:t>
            </a:r>
            <a:endParaRPr lang="en-US" sz="570" dirty="0"/>
          </a:p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&lt;15% </a:t>
            </a:r>
            <a:endParaRPr lang="en-US" sz="570" dirty="0"/>
          </a:p>
        </p:txBody>
      </p:sp>
      <p:sp>
        <p:nvSpPr>
          <p:cNvPr id="13" name="Text 9"/>
          <p:cNvSpPr/>
          <p:nvPr/>
        </p:nvSpPr>
        <p:spPr>
          <a:xfrm>
            <a:off x="6281738" y="1862138"/>
            <a:ext cx="213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83–98мс</a:t>
            </a:r>
            <a:endParaRPr lang="en-US" sz="2280" dirty="0"/>
          </a:p>
        </p:txBody>
      </p:sp>
      <p:sp>
        <p:nvSpPr>
          <p:cNvPr id="14" name="Text 10"/>
          <p:cNvSpPr/>
          <p:nvPr/>
        </p:nvSpPr>
        <p:spPr>
          <a:xfrm>
            <a:off x="7119938" y="2376488"/>
            <a:ext cx="457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jitter</a:t>
            </a:r>
            <a:endParaRPr lang="en-US" sz="570" dirty="0"/>
          </a:p>
        </p:txBody>
      </p:sp>
      <p:sp>
        <p:nvSpPr>
          <p:cNvPr id="15" name="Shape 11"/>
          <p:cNvSpPr/>
          <p:nvPr/>
        </p:nvSpPr>
        <p:spPr>
          <a:xfrm>
            <a:off x="5005388" y="2776538"/>
            <a:ext cx="3851548" cy="2247900"/>
          </a:xfrm>
          <a:prstGeom prst="roundRect">
            <a:avLst/>
          </a:prstGeom>
          <a:solidFill>
            <a:srgbClr val="262630"/>
          </a:solidFill>
          <a:ln w="10668">
            <a:solidFill>
              <a:srgbClr val="A2A2A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760526" y="2776538"/>
            <a:ext cx="96409" cy="22479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7" name="Text 13"/>
          <p:cNvSpPr/>
          <p:nvPr/>
        </p:nvSpPr>
        <p:spPr>
          <a:xfrm>
            <a:off x="5156192" y="2843024"/>
            <a:ext cx="15714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97"/>
              </a:lnSpc>
              <a:buNone/>
            </a:pPr>
            <a:r>
              <a:rPr lang="en-US" sz="697" spc="-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Реализация</a:t>
            </a:r>
            <a:endParaRPr lang="en-US" sz="697" dirty="0"/>
          </a:p>
        </p:txBody>
      </p:sp>
      <p:sp>
        <p:nvSpPr>
          <p:cNvPr id="18" name="Text 14"/>
          <p:cNvSpPr/>
          <p:nvPr/>
        </p:nvSpPr>
        <p:spPr>
          <a:xfrm>
            <a:off x="5156192" y="3191719"/>
            <a:ext cx="34202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4"/>
              </a:lnSpc>
              <a:buNone/>
            </a:pPr>
            <a:r>
              <a:rPr lang="en-US" sz="50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Передача голоса по UDP — без задержек TCP-подтверждений</a:t>
            </a:r>
            <a:endParaRPr lang="en-US" sz="504" dirty="0"/>
          </a:p>
        </p:txBody>
      </p:sp>
      <p:sp>
        <p:nvSpPr>
          <p:cNvPr id="19" name="Text 15"/>
          <p:cNvSpPr/>
          <p:nvPr/>
        </p:nvSpPr>
        <p:spPr>
          <a:xfrm>
            <a:off x="5156192" y="3609638"/>
            <a:ext cx="2599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4"/>
              </a:lnSpc>
              <a:buNone/>
            </a:pPr>
            <a:r>
              <a:rPr lang="en-US" sz="50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Потерянный пакет = микропауза, не зависание</a:t>
            </a:r>
            <a:endParaRPr lang="en-US" sz="504" dirty="0"/>
          </a:p>
        </p:txBody>
      </p:sp>
      <p:sp>
        <p:nvSpPr>
          <p:cNvPr id="20" name="Text 16"/>
          <p:cNvSpPr/>
          <p:nvPr/>
        </p:nvSpPr>
        <p:spPr>
          <a:xfrm>
            <a:off x="5156192" y="3951572"/>
            <a:ext cx="2838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4"/>
              </a:lnSpc>
              <a:buNone/>
            </a:pPr>
            <a:r>
              <a:rPr lang="en-US" sz="50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Каждые 2 секунды — автоизмерение задержки канала</a:t>
            </a:r>
            <a:endParaRPr lang="en-US" sz="504" dirty="0"/>
          </a:p>
        </p:txBody>
      </p:sp>
      <p:sp>
        <p:nvSpPr>
          <p:cNvPr id="21" name="Text 17"/>
          <p:cNvSpPr/>
          <p:nvPr/>
        </p:nvSpPr>
        <p:spPr>
          <a:xfrm>
            <a:off x="5156192" y="4293507"/>
            <a:ext cx="24852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4"/>
              </a:lnSpc>
              <a:buNone/>
            </a:pPr>
            <a:r>
              <a:rPr lang="en-US" sz="50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Статус «мут» и переход на динамик в UI</a:t>
            </a:r>
            <a:endParaRPr lang="en-US" sz="504" dirty="0"/>
          </a:p>
        </p:txBody>
      </p:sp>
      <p:sp>
        <p:nvSpPr>
          <p:cNvPr id="22" name="Text 18"/>
          <p:cNvSpPr/>
          <p:nvPr/>
        </p:nvSpPr>
        <p:spPr>
          <a:xfrm>
            <a:off x="5156192" y="4635441"/>
            <a:ext cx="2406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4"/>
              </a:lnSpc>
              <a:buNone/>
            </a:pPr>
            <a:r>
              <a:rPr lang="en-US" sz="50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Качество адаптируется под условия сети в реальном времени</a:t>
            </a:r>
            <a:endParaRPr lang="en-US" sz="504" dirty="0"/>
          </a:p>
        </p:txBody>
      </p:sp>
      <p:sp>
        <p:nvSpPr>
          <p:cNvPr id="23" name="Shape 19"/>
          <p:cNvSpPr/>
          <p:nvPr/>
        </p:nvSpPr>
        <p:spPr>
          <a:xfrm>
            <a:off x="5156192" y="4210761"/>
            <a:ext cx="3381038" cy="0"/>
          </a:xfrm>
          <a:prstGeom prst="line">
            <a:avLst/>
          </a:prstGeom>
          <a:noFill/>
          <a:ln w="10668">
            <a:solidFill>
              <a:srgbClr val="10101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156192" y="3894155"/>
            <a:ext cx="3381038" cy="0"/>
          </a:xfrm>
          <a:prstGeom prst="line">
            <a:avLst/>
          </a:prstGeom>
          <a:noFill/>
          <a:ln w="10668">
            <a:solidFill>
              <a:srgbClr val="10101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156192" y="4555861"/>
            <a:ext cx="3381038" cy="0"/>
          </a:xfrm>
          <a:prstGeom prst="line">
            <a:avLst/>
          </a:prstGeom>
          <a:noFill/>
          <a:ln w="10668">
            <a:solidFill>
              <a:srgbClr val="10101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156192" y="3422413"/>
            <a:ext cx="3381038" cy="0"/>
          </a:xfrm>
          <a:prstGeom prst="line">
            <a:avLst/>
          </a:prstGeom>
          <a:noFill/>
          <a:ln w="10668">
            <a:solidFill>
              <a:srgbClr val="10101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85750" y="2776538"/>
            <a:ext cx="4010025" cy="2247900"/>
          </a:xfrm>
          <a:prstGeom prst="roundRect">
            <a:avLst/>
          </a:prstGeom>
          <a:solidFill>
            <a:srgbClr val="262630"/>
          </a:solidFill>
          <a:ln w="11106">
            <a:solidFill>
              <a:srgbClr val="A2A2A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85750" y="2776538"/>
            <a:ext cx="100376" cy="22479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9" name="Text 25"/>
          <p:cNvSpPr/>
          <p:nvPr/>
        </p:nvSpPr>
        <p:spPr>
          <a:xfrm>
            <a:off x="514983" y="2877851"/>
            <a:ext cx="3287781" cy="22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7"/>
              </a:lnSpc>
              <a:buNone/>
            </a:pPr>
            <a:r>
              <a:rPr lang="en-US" sz="787" spc="-16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Адаптивный jitter-буфер</a:t>
            </a:r>
            <a:endParaRPr lang="en-US" sz="787" dirty="0"/>
          </a:p>
        </p:txBody>
      </p:sp>
      <p:sp>
        <p:nvSpPr>
          <p:cNvPr id="30" name="Shape 26"/>
          <p:cNvSpPr/>
          <p:nvPr/>
        </p:nvSpPr>
        <p:spPr>
          <a:xfrm>
            <a:off x="514983" y="3361876"/>
            <a:ext cx="3548417" cy="321767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31" name="Text 27"/>
          <p:cNvSpPr/>
          <p:nvPr/>
        </p:nvSpPr>
        <p:spPr>
          <a:xfrm>
            <a:off x="587206" y="3464663"/>
            <a:ext cx="2731967" cy="25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Стабильный канал</a:t>
            </a:r>
            <a:endParaRPr lang="en-US" sz="607" dirty="0"/>
          </a:p>
        </p:txBody>
      </p:sp>
      <p:sp>
        <p:nvSpPr>
          <p:cNvPr id="32" name="Text 28"/>
          <p:cNvSpPr/>
          <p:nvPr/>
        </p:nvSpPr>
        <p:spPr>
          <a:xfrm>
            <a:off x="2292334" y="3464761"/>
            <a:ext cx="744225" cy="12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3 пакета</a:t>
            </a:r>
            <a:endParaRPr lang="en-US" sz="607" dirty="0"/>
          </a:p>
        </p:txBody>
      </p:sp>
      <p:sp>
        <p:nvSpPr>
          <p:cNvPr id="33" name="Text 29"/>
          <p:cNvSpPr/>
          <p:nvPr/>
        </p:nvSpPr>
        <p:spPr>
          <a:xfrm>
            <a:off x="3447924" y="3464761"/>
            <a:ext cx="744225" cy="12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+60 мс</a:t>
            </a:r>
            <a:endParaRPr lang="en-US" sz="607" dirty="0"/>
          </a:p>
        </p:txBody>
      </p:sp>
      <p:sp>
        <p:nvSpPr>
          <p:cNvPr id="34" name="Shape 30"/>
          <p:cNvSpPr/>
          <p:nvPr/>
        </p:nvSpPr>
        <p:spPr>
          <a:xfrm>
            <a:off x="514983" y="3880377"/>
            <a:ext cx="3548417" cy="321767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35" name="Text 31"/>
          <p:cNvSpPr/>
          <p:nvPr/>
        </p:nvSpPr>
        <p:spPr>
          <a:xfrm>
            <a:off x="587206" y="3983164"/>
            <a:ext cx="1328301" cy="25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Норма (default)</a:t>
            </a:r>
            <a:endParaRPr lang="en-US" sz="607" dirty="0"/>
          </a:p>
        </p:txBody>
      </p:sp>
      <p:sp>
        <p:nvSpPr>
          <p:cNvPr id="36" name="Text 32"/>
          <p:cNvSpPr/>
          <p:nvPr/>
        </p:nvSpPr>
        <p:spPr>
          <a:xfrm>
            <a:off x="2292334" y="3983164"/>
            <a:ext cx="951478" cy="25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5 пакетов</a:t>
            </a:r>
            <a:endParaRPr lang="en-US" sz="607" dirty="0"/>
          </a:p>
        </p:txBody>
      </p:sp>
      <p:sp>
        <p:nvSpPr>
          <p:cNvPr id="37" name="Text 33"/>
          <p:cNvSpPr/>
          <p:nvPr/>
        </p:nvSpPr>
        <p:spPr>
          <a:xfrm>
            <a:off x="3356860" y="3983263"/>
            <a:ext cx="744225" cy="12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+100 мс</a:t>
            </a:r>
            <a:endParaRPr lang="en-US" sz="607" dirty="0"/>
          </a:p>
        </p:txBody>
      </p:sp>
      <p:sp>
        <p:nvSpPr>
          <p:cNvPr id="38" name="Shape 34"/>
          <p:cNvSpPr/>
          <p:nvPr/>
        </p:nvSpPr>
        <p:spPr>
          <a:xfrm>
            <a:off x="514983" y="4461345"/>
            <a:ext cx="3548417" cy="321767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39" name="Text 35"/>
          <p:cNvSpPr/>
          <p:nvPr/>
        </p:nvSpPr>
        <p:spPr>
          <a:xfrm>
            <a:off x="587206" y="4564132"/>
            <a:ext cx="1328301" cy="25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Нестабильный</a:t>
            </a:r>
            <a:endParaRPr lang="en-US" sz="607" dirty="0"/>
          </a:p>
        </p:txBody>
      </p:sp>
      <p:sp>
        <p:nvSpPr>
          <p:cNvPr id="40" name="Text 36"/>
          <p:cNvSpPr/>
          <p:nvPr/>
        </p:nvSpPr>
        <p:spPr>
          <a:xfrm>
            <a:off x="2292334" y="4564132"/>
            <a:ext cx="951478" cy="25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12 пакетов</a:t>
            </a:r>
            <a:endParaRPr lang="en-US" sz="607" dirty="0"/>
          </a:p>
        </p:txBody>
      </p:sp>
      <p:sp>
        <p:nvSpPr>
          <p:cNvPr id="41" name="Text 37"/>
          <p:cNvSpPr/>
          <p:nvPr/>
        </p:nvSpPr>
        <p:spPr>
          <a:xfrm>
            <a:off x="3356860" y="4564230"/>
            <a:ext cx="744225" cy="12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+200 мс</a:t>
            </a:r>
            <a:endParaRPr lang="en-US" sz="607" dirty="0"/>
          </a:p>
        </p:txBody>
      </p:sp>
      <p:sp>
        <p:nvSpPr>
          <p:cNvPr id="42" name="Text 38"/>
          <p:cNvSpPr/>
          <p:nvPr/>
        </p:nvSpPr>
        <p:spPr>
          <a:xfrm>
            <a:off x="7705725" y="147638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295275"/>
            <a:ext cx="8420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Передача файлов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60327" t="0" b="54390"/>
          <a:stretch/>
        </p:blipFill>
        <p:spPr>
          <a:xfrm>
            <a:off x="-987642" y="4351901"/>
            <a:ext cx="649509" cy="79159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72203" t="0" b="67818"/>
          <a:stretch/>
        </p:blipFill>
        <p:spPr>
          <a:xfrm>
            <a:off x="-1238248" y="4086225"/>
            <a:ext cx="594410" cy="7295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2888" y="876300"/>
            <a:ext cx="68484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34"/>
              </a:lnSpc>
              <a:buNone/>
            </a:pPr>
            <a:r>
              <a:rPr lang="en-US" sz="534" spc="-11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Файл режется на части, каждая часть проверяется отдельно — потеря соединения не обнуляет передачу</a:t>
            </a:r>
            <a:endParaRPr lang="en-US" sz="534" dirty="0"/>
          </a:p>
        </p:txBody>
      </p:sp>
      <p:sp>
        <p:nvSpPr>
          <p:cNvPr id="6" name="Shape 2"/>
          <p:cNvSpPr/>
          <p:nvPr/>
        </p:nvSpPr>
        <p:spPr>
          <a:xfrm>
            <a:off x="247650" y="1295400"/>
            <a:ext cx="3863493" cy="2980317"/>
          </a:xfrm>
          <a:prstGeom prst="roundRect">
            <a:avLst/>
          </a:prstGeom>
          <a:solidFill>
            <a:srgbClr val="262630"/>
          </a:solidFill>
          <a:ln w="12204">
            <a:solidFill>
              <a:srgbClr val="A2A2A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47650" y="1295400"/>
            <a:ext cx="109193" cy="2980317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8" name="Text 4"/>
          <p:cNvSpPr/>
          <p:nvPr/>
        </p:nvSpPr>
        <p:spPr>
          <a:xfrm>
            <a:off x="499532" y="1459189"/>
            <a:ext cx="3612637" cy="19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5"/>
              </a:lnSpc>
              <a:buNone/>
            </a:pPr>
            <a:r>
              <a:rPr lang="en-US" sz="865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Как передаётся файл</a:t>
            </a:r>
            <a:endParaRPr lang="en-US" sz="865" dirty="0"/>
          </a:p>
        </p:txBody>
      </p:sp>
      <p:sp>
        <p:nvSpPr>
          <p:cNvPr id="9" name="Shape 5"/>
          <p:cNvSpPr/>
          <p:nvPr/>
        </p:nvSpPr>
        <p:spPr>
          <a:xfrm>
            <a:off x="498151" y="1802825"/>
            <a:ext cx="3413876" cy="481732"/>
          </a:xfrm>
          <a:prstGeom prst="roundRect">
            <a:avLst/>
          </a:prstGeom>
          <a:solidFill>
            <a:srgbClr val="30303B"/>
          </a:solidFill>
          <a:ln/>
        </p:spPr>
      </p:sp>
      <p:sp>
        <p:nvSpPr>
          <p:cNvPr id="10" name="Text 6"/>
          <p:cNvSpPr/>
          <p:nvPr/>
        </p:nvSpPr>
        <p:spPr>
          <a:xfrm>
            <a:off x="588076" y="2066172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Файл делится на блоки по 8 КБ. Каждый блок получает собственную контрольную сумму.</a:t>
            </a:r>
            <a:endParaRPr lang="en-US" sz="480" dirty="0"/>
          </a:p>
        </p:txBody>
      </p:sp>
      <p:sp>
        <p:nvSpPr>
          <p:cNvPr id="11" name="Text 7"/>
          <p:cNvSpPr/>
          <p:nvPr/>
        </p:nvSpPr>
        <p:spPr>
          <a:xfrm>
            <a:off x="649095" y="1873479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666"/>
              </a:lnSpc>
              <a:buSzPct val="100000"/>
              <a:buFont typeface="+mj-lt"/>
              <a:buAutoNum type="arabicPeriod" startAt="1"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Нарезка на чанки</a:t>
            </a:r>
            <a:endParaRPr lang="en-US" sz="666" dirty="0"/>
          </a:p>
        </p:txBody>
      </p:sp>
      <p:sp>
        <p:nvSpPr>
          <p:cNvPr id="12" name="Shape 8"/>
          <p:cNvSpPr/>
          <p:nvPr/>
        </p:nvSpPr>
        <p:spPr>
          <a:xfrm>
            <a:off x="498151" y="2429077"/>
            <a:ext cx="3413876" cy="481732"/>
          </a:xfrm>
          <a:prstGeom prst="roundRect">
            <a:avLst/>
          </a:prstGeom>
          <a:solidFill>
            <a:srgbClr val="30303B"/>
          </a:solidFill>
          <a:ln/>
        </p:spPr>
      </p:sp>
      <p:sp>
        <p:nvSpPr>
          <p:cNvPr id="13" name="Text 9"/>
          <p:cNvSpPr/>
          <p:nvPr/>
        </p:nvSpPr>
        <p:spPr>
          <a:xfrm>
            <a:off x="588076" y="2692423"/>
            <a:ext cx="3134471" cy="218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Чанки отправляются по очереди. Следующий — только после подтверждения текущего.</a:t>
            </a:r>
            <a:endParaRPr lang="en-US" sz="480" dirty="0"/>
          </a:p>
        </p:txBody>
      </p:sp>
      <p:sp>
        <p:nvSpPr>
          <p:cNvPr id="14" name="Text 10"/>
          <p:cNvSpPr/>
          <p:nvPr/>
        </p:nvSpPr>
        <p:spPr>
          <a:xfrm>
            <a:off x="649095" y="2499731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666"/>
              </a:lnSpc>
              <a:buSzPct val="100000"/>
              <a:buFont typeface="+mj-lt"/>
              <a:buAutoNum type="arabicPeriod" startAt="1"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Последовательная отправка</a:t>
            </a:r>
            <a:endParaRPr lang="en-US" sz="666" dirty="0"/>
          </a:p>
        </p:txBody>
      </p:sp>
      <p:sp>
        <p:nvSpPr>
          <p:cNvPr id="15" name="Shape 11"/>
          <p:cNvSpPr/>
          <p:nvPr/>
        </p:nvSpPr>
        <p:spPr>
          <a:xfrm>
            <a:off x="498151" y="3016790"/>
            <a:ext cx="3413876" cy="481732"/>
          </a:xfrm>
          <a:prstGeom prst="roundRect">
            <a:avLst/>
          </a:prstGeom>
          <a:solidFill>
            <a:srgbClr val="30303B"/>
          </a:solidFill>
          <a:ln/>
        </p:spPr>
      </p:sp>
      <p:sp>
        <p:nvSpPr>
          <p:cNvPr id="16" name="Text 12"/>
          <p:cNvSpPr/>
          <p:nvPr/>
        </p:nvSpPr>
        <p:spPr>
          <a:xfrm>
            <a:off x="588076" y="3280137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Получатель проверяет целостность. Если блок повреждён — запрашивает именно его повторно.</a:t>
            </a:r>
            <a:endParaRPr lang="en-US" sz="480" dirty="0"/>
          </a:p>
        </p:txBody>
      </p:sp>
      <p:sp>
        <p:nvSpPr>
          <p:cNvPr id="17" name="Text 13"/>
          <p:cNvSpPr/>
          <p:nvPr/>
        </p:nvSpPr>
        <p:spPr>
          <a:xfrm>
            <a:off x="649095" y="3087444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666"/>
              </a:lnSpc>
              <a:buSzPct val="100000"/>
              <a:buFont typeface="+mj-lt"/>
              <a:buAutoNum type="arabicPeriod" startAt="1"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Проверка каждого блока</a:t>
            </a:r>
            <a:endParaRPr lang="en-US" sz="666" dirty="0"/>
          </a:p>
        </p:txBody>
      </p:sp>
      <p:sp>
        <p:nvSpPr>
          <p:cNvPr id="18" name="Shape 14"/>
          <p:cNvSpPr/>
          <p:nvPr/>
        </p:nvSpPr>
        <p:spPr>
          <a:xfrm>
            <a:off x="498151" y="3604503"/>
            <a:ext cx="3413876" cy="481732"/>
          </a:xfrm>
          <a:prstGeom prst="roundRect">
            <a:avLst/>
          </a:prstGeom>
          <a:solidFill>
            <a:srgbClr val="30303B"/>
          </a:solidFill>
          <a:ln/>
        </p:spPr>
      </p:sp>
      <p:sp>
        <p:nvSpPr>
          <p:cNvPr id="19" name="Text 15"/>
          <p:cNvSpPr/>
          <p:nvPr/>
        </p:nvSpPr>
        <p:spPr>
          <a:xfrm>
            <a:off x="588076" y="3867850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После последнего блока — контрольная сумма всего файла целиком.</a:t>
            </a:r>
            <a:endParaRPr lang="en-US" sz="480" dirty="0"/>
          </a:p>
        </p:txBody>
      </p:sp>
      <p:sp>
        <p:nvSpPr>
          <p:cNvPr id="20" name="Text 16"/>
          <p:cNvSpPr/>
          <p:nvPr/>
        </p:nvSpPr>
        <p:spPr>
          <a:xfrm>
            <a:off x="649095" y="3675157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666"/>
              </a:lnSpc>
              <a:buSzPct val="100000"/>
              <a:buFont typeface="+mj-lt"/>
              <a:buAutoNum type="arabicPeriod" startAt="1"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Финальная сверка</a:t>
            </a:r>
            <a:endParaRPr lang="en-US" sz="666" dirty="0"/>
          </a:p>
        </p:txBody>
      </p:sp>
      <p:sp>
        <p:nvSpPr>
          <p:cNvPr id="21" name="Shape 17"/>
          <p:cNvSpPr/>
          <p:nvPr/>
        </p:nvSpPr>
        <p:spPr>
          <a:xfrm>
            <a:off x="5032856" y="1295400"/>
            <a:ext cx="3863493" cy="2980317"/>
          </a:xfrm>
          <a:prstGeom prst="roundRect">
            <a:avLst/>
          </a:prstGeom>
          <a:solidFill>
            <a:srgbClr val="262630"/>
          </a:solidFill>
          <a:ln w="12204">
            <a:solidFill>
              <a:srgbClr val="A2A2A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 rot="10800000">
            <a:off x="8786813" y="1295400"/>
            <a:ext cx="109193" cy="2980317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3" name="Text 19"/>
          <p:cNvSpPr/>
          <p:nvPr/>
        </p:nvSpPr>
        <p:spPr>
          <a:xfrm>
            <a:off x="5084243" y="1459189"/>
            <a:ext cx="3612637" cy="19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5"/>
              </a:lnSpc>
              <a:buNone/>
            </a:pPr>
            <a:r>
              <a:rPr lang="en-US" sz="865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Что происходит при сбое</a:t>
            </a:r>
            <a:endParaRPr lang="en-US" sz="865" dirty="0"/>
          </a:p>
        </p:txBody>
      </p:sp>
      <p:sp>
        <p:nvSpPr>
          <p:cNvPr id="24" name="Shape 20"/>
          <p:cNvSpPr/>
          <p:nvPr/>
        </p:nvSpPr>
        <p:spPr>
          <a:xfrm>
            <a:off x="5283357" y="1802825"/>
            <a:ext cx="3413876" cy="481732"/>
          </a:xfrm>
          <a:prstGeom prst="roundRect">
            <a:avLst/>
          </a:prstGeom>
          <a:solidFill>
            <a:srgbClr val="30303B"/>
          </a:solidFill>
          <a:ln/>
        </p:spPr>
      </p:sp>
      <p:sp>
        <p:nvSpPr>
          <p:cNvPr id="25" name="Text 21"/>
          <p:cNvSpPr/>
          <p:nvPr/>
        </p:nvSpPr>
        <p:spPr>
          <a:xfrm>
            <a:off x="5434301" y="2066172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Если потерян один чанк из ста — заново отправляется только он, остальные не трогаются.</a:t>
            </a:r>
            <a:endParaRPr lang="en-US" sz="480" dirty="0"/>
          </a:p>
        </p:txBody>
      </p:sp>
      <p:sp>
        <p:nvSpPr>
          <p:cNvPr id="26" name="Text 22"/>
          <p:cNvSpPr/>
          <p:nvPr/>
        </p:nvSpPr>
        <p:spPr>
          <a:xfrm>
            <a:off x="5434301" y="1873479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Повтор только упавшего блока</a:t>
            </a:r>
            <a:endParaRPr lang="en-US" sz="666" dirty="0"/>
          </a:p>
        </p:txBody>
      </p:sp>
      <p:sp>
        <p:nvSpPr>
          <p:cNvPr id="27" name="Shape 23"/>
          <p:cNvSpPr/>
          <p:nvPr/>
        </p:nvSpPr>
        <p:spPr>
          <a:xfrm>
            <a:off x="5283357" y="2429077"/>
            <a:ext cx="3413876" cy="481732"/>
          </a:xfrm>
          <a:prstGeom prst="roundRect">
            <a:avLst/>
          </a:prstGeom>
          <a:solidFill>
            <a:srgbClr val="30303B"/>
          </a:solidFill>
          <a:ln/>
        </p:spPr>
      </p:sp>
      <p:sp>
        <p:nvSpPr>
          <p:cNvPr id="28" name="Text 24"/>
          <p:cNvSpPr/>
          <p:nvPr/>
        </p:nvSpPr>
        <p:spPr>
          <a:xfrm>
            <a:off x="5289779" y="2692423"/>
            <a:ext cx="3147317" cy="218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При обрыве соединения передача продолжается с последнего подтверждённого блока.</a:t>
            </a:r>
            <a:endParaRPr lang="en-US" sz="480" dirty="0"/>
          </a:p>
        </p:txBody>
      </p:sp>
      <p:sp>
        <p:nvSpPr>
          <p:cNvPr id="29" name="Text 25"/>
          <p:cNvSpPr/>
          <p:nvPr/>
        </p:nvSpPr>
        <p:spPr>
          <a:xfrm>
            <a:off x="5434301" y="2499731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Возобновление после разрыва</a:t>
            </a:r>
            <a:endParaRPr lang="en-US" sz="666" dirty="0"/>
          </a:p>
        </p:txBody>
      </p:sp>
      <p:sp>
        <p:nvSpPr>
          <p:cNvPr id="30" name="Shape 26"/>
          <p:cNvSpPr/>
          <p:nvPr/>
        </p:nvSpPr>
        <p:spPr>
          <a:xfrm>
            <a:off x="5283357" y="3016790"/>
            <a:ext cx="3413876" cy="481732"/>
          </a:xfrm>
          <a:prstGeom prst="roundRect">
            <a:avLst/>
          </a:prstGeom>
          <a:solidFill>
            <a:srgbClr val="30303B"/>
          </a:solidFill>
          <a:ln/>
        </p:spPr>
      </p:sp>
      <p:sp>
        <p:nvSpPr>
          <p:cNvPr id="31" name="Text 27"/>
          <p:cNvSpPr/>
          <p:nvPr/>
        </p:nvSpPr>
        <p:spPr>
          <a:xfrm>
            <a:off x="5434301" y="3280137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Файл принимается только если совпала итоговая контрольная сумма. Иначе — запрос повтора.</a:t>
            </a:r>
            <a:endParaRPr lang="en-US" sz="480" dirty="0"/>
          </a:p>
        </p:txBody>
      </p:sp>
      <p:sp>
        <p:nvSpPr>
          <p:cNvPr id="32" name="Text 28"/>
          <p:cNvSpPr/>
          <p:nvPr/>
        </p:nvSpPr>
        <p:spPr>
          <a:xfrm>
            <a:off x="5434301" y="3087444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Гарантия целостности</a:t>
            </a:r>
            <a:endParaRPr lang="en-US" sz="666" dirty="0"/>
          </a:p>
        </p:txBody>
      </p:sp>
      <p:sp>
        <p:nvSpPr>
          <p:cNvPr id="33" name="Shape 29"/>
          <p:cNvSpPr/>
          <p:nvPr/>
        </p:nvSpPr>
        <p:spPr>
          <a:xfrm>
            <a:off x="5283357" y="3604503"/>
            <a:ext cx="3413876" cy="481732"/>
          </a:xfrm>
          <a:prstGeom prst="roundRect">
            <a:avLst/>
          </a:prstGeom>
          <a:solidFill>
            <a:srgbClr val="30303B"/>
          </a:solidFill>
          <a:ln/>
        </p:spPr>
      </p:sp>
      <p:sp>
        <p:nvSpPr>
          <p:cNvPr id="34" name="Text 30"/>
          <p:cNvSpPr/>
          <p:nvPr/>
        </p:nvSpPr>
        <p:spPr>
          <a:xfrm>
            <a:off x="5434301" y="3867850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Передача файла идёт в отдельном потоке — чат и звонки работают параллельно.</a:t>
            </a:r>
            <a:endParaRPr lang="en-US" sz="480" dirty="0"/>
          </a:p>
        </p:txBody>
      </p:sp>
      <p:sp>
        <p:nvSpPr>
          <p:cNvPr id="35" name="Text 31"/>
          <p:cNvSpPr/>
          <p:nvPr/>
        </p:nvSpPr>
        <p:spPr>
          <a:xfrm>
            <a:off x="5434301" y="3675157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Не блокирует связь</a:t>
            </a:r>
            <a:endParaRPr lang="en-US" sz="666" dirty="0"/>
          </a:p>
        </p:txBody>
      </p:sp>
      <p:sp>
        <p:nvSpPr>
          <p:cNvPr id="36" name="Shape 32"/>
          <p:cNvSpPr/>
          <p:nvPr/>
        </p:nvSpPr>
        <p:spPr>
          <a:xfrm>
            <a:off x="1090613" y="4572000"/>
            <a:ext cx="238125" cy="238125"/>
          </a:xfrm>
          <a:prstGeom prst="rect">
            <a:avLst/>
          </a:prstGeom>
          <a:solidFill>
            <a:srgbClr val="1515AA"/>
          </a:solidFill>
          <a:ln w="9049">
            <a:solidFill>
              <a:srgbClr val="00C85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162050" y="4643438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i</a:t>
            </a:r>
            <a:endParaRPr lang="en-US" sz="713" dirty="0"/>
          </a:p>
        </p:txBody>
      </p:sp>
      <p:sp>
        <p:nvSpPr>
          <p:cNvPr id="38" name="Text 34"/>
          <p:cNvSpPr/>
          <p:nvPr/>
        </p:nvSpPr>
        <p:spPr>
          <a:xfrm>
            <a:off x="2786063" y="4895850"/>
            <a:ext cx="12239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chunk 23/47 ack ok  hash=a3f9…  retries=0</a:t>
            </a:r>
            <a:endParaRPr lang="en-US" sz="427" dirty="0"/>
          </a:p>
        </p:txBody>
      </p:sp>
      <p:sp>
        <p:nvSpPr>
          <p:cNvPr id="39" name="Text 35"/>
          <p:cNvSpPr/>
          <p:nvPr/>
        </p:nvSpPr>
        <p:spPr>
          <a:xfrm>
            <a:off x="1090613" y="4895850"/>
            <a:ext cx="12239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file_send: report.pdf  chunks=47  size=374KB</a:t>
            </a:r>
            <a:endParaRPr lang="en-US" sz="427" dirty="0"/>
          </a:p>
        </p:txBody>
      </p:sp>
      <p:sp>
        <p:nvSpPr>
          <p:cNvPr id="40" name="Shape 36"/>
          <p:cNvSpPr/>
          <p:nvPr/>
        </p:nvSpPr>
        <p:spPr>
          <a:xfrm>
            <a:off x="2786063" y="4572000"/>
            <a:ext cx="238125" cy="238125"/>
          </a:xfrm>
          <a:prstGeom prst="rect">
            <a:avLst/>
          </a:prstGeom>
          <a:solidFill>
            <a:srgbClr val="1A3D2B"/>
          </a:solidFill>
          <a:ln w="9049">
            <a:solidFill>
              <a:srgbClr val="00C85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857500" y="4643438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</a:t>
            </a:r>
            <a:endParaRPr lang="en-US" sz="713" dirty="0"/>
          </a:p>
        </p:txBody>
      </p:sp>
      <p:sp>
        <p:nvSpPr>
          <p:cNvPr id="42" name="Text 38"/>
          <p:cNvSpPr/>
          <p:nvPr/>
        </p:nvSpPr>
        <p:spPr>
          <a:xfrm>
            <a:off x="6596063" y="4895850"/>
            <a:ext cx="2100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file_complete: SHA-256 verified ✓</a:t>
            </a:r>
            <a:endParaRPr lang="en-US" sz="427" dirty="0"/>
          </a:p>
        </p:txBody>
      </p:sp>
      <p:sp>
        <p:nvSpPr>
          <p:cNvPr id="43" name="Shape 39"/>
          <p:cNvSpPr/>
          <p:nvPr/>
        </p:nvSpPr>
        <p:spPr>
          <a:xfrm>
            <a:off x="6596063" y="4572000"/>
            <a:ext cx="238125" cy="238125"/>
          </a:xfrm>
          <a:prstGeom prst="rect">
            <a:avLst/>
          </a:prstGeom>
          <a:solidFill>
            <a:srgbClr val="1A3D2B"/>
          </a:solidFill>
          <a:ln w="9049">
            <a:solidFill>
              <a:srgbClr val="00C853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667500" y="4643438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</a:t>
            </a:r>
            <a:endParaRPr lang="en-US" sz="713" dirty="0"/>
          </a:p>
        </p:txBody>
      </p:sp>
      <p:sp>
        <p:nvSpPr>
          <p:cNvPr id="45" name="Text 41"/>
          <p:cNvSpPr/>
          <p:nvPr/>
        </p:nvSpPr>
        <p:spPr>
          <a:xfrm>
            <a:off x="4419600" y="4895850"/>
            <a:ext cx="16144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chunk 31/47 hash mismatch — retry 1/5</a:t>
            </a:r>
            <a:endParaRPr lang="en-US" sz="427" dirty="0"/>
          </a:p>
        </p:txBody>
      </p:sp>
      <p:sp>
        <p:nvSpPr>
          <p:cNvPr id="46" name="Shape 42"/>
          <p:cNvSpPr/>
          <p:nvPr/>
        </p:nvSpPr>
        <p:spPr>
          <a:xfrm>
            <a:off x="4419600" y="4572000"/>
            <a:ext cx="238125" cy="238125"/>
          </a:xfrm>
          <a:prstGeom prst="rect">
            <a:avLst/>
          </a:prstGeom>
          <a:solidFill>
            <a:srgbClr val="B97D53"/>
          </a:solidFill>
          <a:ln w="9049">
            <a:solidFill>
              <a:srgbClr val="00C85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491038" y="4643438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</a:t>
            </a:r>
            <a:endParaRPr lang="en-US" sz="713" dirty="0"/>
          </a:p>
        </p:txBody>
      </p:sp>
      <p:sp>
        <p:nvSpPr>
          <p:cNvPr id="48" name="Text 44"/>
          <p:cNvSpPr/>
          <p:nvPr/>
        </p:nvSpPr>
        <p:spPr>
          <a:xfrm>
            <a:off x="276225" y="4352925"/>
            <a:ext cx="1863959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3"/>
              </a:lnSpc>
              <a:buNone/>
            </a:pPr>
            <a:r>
              <a:rPr lang="en-US" sz="463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Реальные логи</a:t>
            </a:r>
            <a:endParaRPr lang="en-US" sz="463" dirty="0"/>
          </a:p>
        </p:txBody>
      </p:sp>
      <p:sp>
        <p:nvSpPr>
          <p:cNvPr id="49" name="Text 45"/>
          <p:cNvSpPr/>
          <p:nvPr/>
        </p:nvSpPr>
        <p:spPr>
          <a:xfrm>
            <a:off x="7810500" y="2381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261937"/>
            <a:ext cx="8420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Безопасность и идентичность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28871" t="0" b="0"/>
          <a:stretch/>
        </p:blipFill>
        <p:spPr>
          <a:xfrm>
            <a:off x="7909489" y="689538"/>
            <a:ext cx="1234511" cy="173559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48259" t="0" b="28763"/>
          <a:stretch/>
        </p:blipFill>
        <p:spPr>
          <a:xfrm>
            <a:off x="7643817" y="423863"/>
            <a:ext cx="1172952" cy="161491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19075" y="1395413"/>
            <a:ext cx="8702673" cy="1654614"/>
          </a:xfrm>
          <a:prstGeom prst="roundRect">
            <a:avLst/>
          </a:prstGeom>
          <a:solidFill>
            <a:srgbClr val="23232D"/>
          </a:solidFill>
          <a:ln/>
        </p:spPr>
      </p:sp>
      <p:sp>
        <p:nvSpPr>
          <p:cNvPr id="6" name="Shape 2"/>
          <p:cNvSpPr/>
          <p:nvPr/>
        </p:nvSpPr>
        <p:spPr>
          <a:xfrm>
            <a:off x="695469" y="1884566"/>
            <a:ext cx="1339854" cy="603998"/>
          </a:xfrm>
          <a:prstGeom prst="rect">
            <a:avLst/>
          </a:prstGeom>
          <a:solidFill>
            <a:srgbClr val="262630"/>
          </a:solidFill>
          <a:ln w="9569">
            <a:solidFill>
              <a:srgbClr val="A70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48508" y="2127016"/>
            <a:ext cx="582730" cy="19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OsRng</a:t>
            </a:r>
            <a:endParaRPr lang="en-US" sz="723" dirty="0"/>
          </a:p>
        </p:txBody>
      </p:sp>
      <p:sp>
        <p:nvSpPr>
          <p:cNvPr id="8" name="Shape 4"/>
          <p:cNvSpPr/>
          <p:nvPr/>
        </p:nvSpPr>
        <p:spPr>
          <a:xfrm>
            <a:off x="2299041" y="1884566"/>
            <a:ext cx="1339854" cy="603998"/>
          </a:xfrm>
          <a:prstGeom prst="rect">
            <a:avLst/>
          </a:prstGeom>
          <a:solidFill>
            <a:srgbClr val="262630"/>
          </a:solidFill>
          <a:ln w="9569">
            <a:solidFill>
              <a:srgbClr val="A700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652080" y="2127016"/>
            <a:ext cx="693321" cy="19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Ed25519 KeyPair</a:t>
            </a:r>
            <a:endParaRPr lang="en-US" sz="723" dirty="0"/>
          </a:p>
        </p:txBody>
      </p:sp>
      <p:sp>
        <p:nvSpPr>
          <p:cNvPr id="10" name="Text 6"/>
          <p:cNvSpPr/>
          <p:nvPr/>
        </p:nvSpPr>
        <p:spPr>
          <a:xfrm>
            <a:off x="695469" y="1582567"/>
            <a:ext cx="2190556" cy="19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Как рождается идентичность узла</a:t>
            </a:r>
            <a:endParaRPr lang="en-US" sz="723" dirty="0"/>
          </a:p>
        </p:txBody>
      </p:sp>
      <p:sp>
        <p:nvSpPr>
          <p:cNvPr id="11" name="Shape 7"/>
          <p:cNvSpPr/>
          <p:nvPr/>
        </p:nvSpPr>
        <p:spPr>
          <a:xfrm>
            <a:off x="3902613" y="1884566"/>
            <a:ext cx="1335601" cy="603998"/>
          </a:xfrm>
          <a:prstGeom prst="rect">
            <a:avLst/>
          </a:prstGeom>
          <a:solidFill>
            <a:srgbClr val="262630"/>
          </a:solidFill>
          <a:ln w="9569">
            <a:solidFill>
              <a:srgbClr val="A7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62076" y="2139776"/>
            <a:ext cx="816673" cy="19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SHA-256</a:t>
            </a:r>
            <a:endParaRPr lang="en-US" sz="723" dirty="0"/>
          </a:p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(pubkey)</a:t>
            </a:r>
            <a:endParaRPr lang="en-US" sz="723" dirty="0"/>
          </a:p>
        </p:txBody>
      </p:sp>
      <p:sp>
        <p:nvSpPr>
          <p:cNvPr id="13" name="Shape 9"/>
          <p:cNvSpPr/>
          <p:nvPr/>
        </p:nvSpPr>
        <p:spPr>
          <a:xfrm>
            <a:off x="2035322" y="2186564"/>
            <a:ext cx="250957" cy="0"/>
          </a:xfrm>
          <a:prstGeom prst="line">
            <a:avLst/>
          </a:prstGeom>
          <a:noFill/>
          <a:ln w="19139">
            <a:solidFill>
              <a:srgbClr val="A700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38894" y="2186564"/>
            <a:ext cx="255210" cy="0"/>
          </a:xfrm>
          <a:prstGeom prst="line">
            <a:avLst/>
          </a:prstGeom>
          <a:noFill/>
          <a:ln w="19139">
            <a:solidFill>
              <a:srgbClr val="A700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14687" y="1884566"/>
            <a:ext cx="1339854" cy="603998"/>
          </a:xfrm>
          <a:prstGeom prst="rect">
            <a:avLst/>
          </a:prstGeom>
          <a:solidFill>
            <a:srgbClr val="262630"/>
          </a:solidFill>
          <a:ln w="9569">
            <a:solidFill>
              <a:srgbClr val="A70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74150" y="2139776"/>
            <a:ext cx="816673" cy="19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peer_id</a:t>
            </a:r>
            <a:endParaRPr lang="en-US" sz="723" dirty="0"/>
          </a:p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(hex 32)</a:t>
            </a:r>
            <a:endParaRPr lang="en-US" sz="723" dirty="0"/>
          </a:p>
        </p:txBody>
      </p:sp>
      <p:sp>
        <p:nvSpPr>
          <p:cNvPr id="17" name="Shape 13"/>
          <p:cNvSpPr/>
          <p:nvPr/>
        </p:nvSpPr>
        <p:spPr>
          <a:xfrm>
            <a:off x="5250973" y="2186564"/>
            <a:ext cx="255210" cy="0"/>
          </a:xfrm>
          <a:prstGeom prst="line">
            <a:avLst/>
          </a:prstGeom>
          <a:noFill/>
          <a:ln w="19139">
            <a:solidFill>
              <a:srgbClr val="A700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26765" y="1884566"/>
            <a:ext cx="1339854" cy="603998"/>
          </a:xfrm>
          <a:prstGeom prst="rect">
            <a:avLst/>
          </a:prstGeom>
          <a:solidFill>
            <a:srgbClr val="262630"/>
          </a:solidFill>
          <a:ln w="9569">
            <a:solidFill>
              <a:srgbClr val="A7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254376" y="2139776"/>
            <a:ext cx="1080391" cy="19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short_code</a:t>
            </a:r>
            <a:endParaRPr lang="en-US" sz="723" dirty="0"/>
          </a:p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(4 символа)</a:t>
            </a:r>
            <a:endParaRPr lang="en-US" sz="723" dirty="0"/>
          </a:p>
        </p:txBody>
      </p:sp>
      <p:sp>
        <p:nvSpPr>
          <p:cNvPr id="20" name="Shape 16"/>
          <p:cNvSpPr/>
          <p:nvPr/>
        </p:nvSpPr>
        <p:spPr>
          <a:xfrm>
            <a:off x="6863051" y="2186564"/>
            <a:ext cx="250957" cy="0"/>
          </a:xfrm>
          <a:prstGeom prst="line">
            <a:avLst/>
          </a:prstGeom>
          <a:noFill/>
          <a:ln w="19139">
            <a:solidFill>
              <a:srgbClr val="A700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5469" y="2688478"/>
            <a:ext cx="6707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6"/>
              </a:lnSpc>
              <a:buNone/>
            </a:pPr>
            <a:r>
              <a:rPr lang="en-US" sz="636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Ключ хранится в filesDir · недоступен другим · персистентность между сессиями</a:t>
            </a:r>
            <a:endParaRPr lang="en-US" sz="636" dirty="0"/>
          </a:p>
        </p:txBody>
      </p:sp>
      <p:sp>
        <p:nvSpPr>
          <p:cNvPr id="22" name="Shape 18"/>
          <p:cNvSpPr/>
          <p:nvPr/>
        </p:nvSpPr>
        <p:spPr>
          <a:xfrm>
            <a:off x="242888" y="3281363"/>
            <a:ext cx="2784157" cy="1455199"/>
          </a:xfrm>
          <a:prstGeom prst="roundRect">
            <a:avLst/>
          </a:prstGeom>
          <a:solidFill>
            <a:srgbClr val="262630"/>
          </a:solidFill>
          <a:ln w="9050">
            <a:solidFill>
              <a:srgbClr val="A2A2A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42888" y="3281363"/>
            <a:ext cx="79481" cy="1455199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4" name="Text 20"/>
          <p:cNvSpPr/>
          <p:nvPr/>
        </p:nvSpPr>
        <p:spPr>
          <a:xfrm>
            <a:off x="424407" y="3346949"/>
            <a:ext cx="2603383" cy="14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641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Шифрование</a:t>
            </a:r>
            <a:endParaRPr lang="en-US" sz="641" dirty="0"/>
          </a:p>
        </p:txBody>
      </p:sp>
      <p:sp>
        <p:nvSpPr>
          <p:cNvPr id="25" name="Shape 21"/>
          <p:cNvSpPr/>
          <p:nvPr/>
        </p:nvSpPr>
        <p:spPr>
          <a:xfrm>
            <a:off x="423407" y="3660048"/>
            <a:ext cx="2460149" cy="209587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26" name="Text 22"/>
          <p:cNvSpPr/>
          <p:nvPr/>
        </p:nvSpPr>
        <p:spPr>
          <a:xfrm>
            <a:off x="481594" y="3726827"/>
            <a:ext cx="2163269" cy="16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Ed25519 подпись каждого handshake</a:t>
            </a:r>
            <a:endParaRPr lang="en-US" sz="494" dirty="0"/>
          </a:p>
        </p:txBody>
      </p:sp>
      <p:sp>
        <p:nvSpPr>
          <p:cNvPr id="27" name="Shape 23"/>
          <p:cNvSpPr/>
          <p:nvPr/>
        </p:nvSpPr>
        <p:spPr>
          <a:xfrm>
            <a:off x="423407" y="3995863"/>
            <a:ext cx="2460149" cy="207205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28" name="Text 24"/>
          <p:cNvSpPr/>
          <p:nvPr/>
        </p:nvSpPr>
        <p:spPr>
          <a:xfrm>
            <a:off x="481264" y="4072076"/>
            <a:ext cx="2356004" cy="16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SHA-256 peer_id = нельзя подделать</a:t>
            </a:r>
            <a:endParaRPr lang="en-US" sz="494" dirty="0"/>
          </a:p>
        </p:txBody>
      </p:sp>
      <p:sp>
        <p:nvSpPr>
          <p:cNvPr id="29" name="Shape 25"/>
          <p:cNvSpPr/>
          <p:nvPr/>
        </p:nvSpPr>
        <p:spPr>
          <a:xfrm>
            <a:off x="423407" y="4372166"/>
            <a:ext cx="2460149" cy="207205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30" name="Text 26"/>
          <p:cNvSpPr/>
          <p:nvPr/>
        </p:nvSpPr>
        <p:spPr>
          <a:xfrm>
            <a:off x="481264" y="4438853"/>
            <a:ext cx="2450892" cy="16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signData / verifySignature через JNI</a:t>
            </a:r>
            <a:endParaRPr lang="en-US" sz="494" dirty="0"/>
          </a:p>
        </p:txBody>
      </p:sp>
      <p:sp>
        <p:nvSpPr>
          <p:cNvPr id="31" name="Shape 27"/>
          <p:cNvSpPr/>
          <p:nvPr/>
        </p:nvSpPr>
        <p:spPr>
          <a:xfrm>
            <a:off x="3189047" y="3281363"/>
            <a:ext cx="2784157" cy="1455199"/>
          </a:xfrm>
          <a:prstGeom prst="roundRect">
            <a:avLst/>
          </a:prstGeom>
          <a:solidFill>
            <a:srgbClr val="262630"/>
          </a:solidFill>
          <a:ln w="9050">
            <a:solidFill>
              <a:srgbClr val="A2A2A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189047" y="3281363"/>
            <a:ext cx="79481" cy="1455199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3" name="Shape 29"/>
          <p:cNvSpPr/>
          <p:nvPr/>
        </p:nvSpPr>
        <p:spPr>
          <a:xfrm rot="10800000">
            <a:off x="5891213" y="3281363"/>
            <a:ext cx="79481" cy="1455199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4" name="Text 30"/>
          <p:cNvSpPr/>
          <p:nvPr/>
        </p:nvSpPr>
        <p:spPr>
          <a:xfrm>
            <a:off x="3370566" y="3346949"/>
            <a:ext cx="2603383" cy="14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641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Аутентификация</a:t>
            </a:r>
            <a:endParaRPr lang="en-US" sz="641" dirty="0"/>
          </a:p>
        </p:txBody>
      </p:sp>
      <p:sp>
        <p:nvSpPr>
          <p:cNvPr id="35" name="Shape 31"/>
          <p:cNvSpPr/>
          <p:nvPr/>
        </p:nvSpPr>
        <p:spPr>
          <a:xfrm>
            <a:off x="3369566" y="3660048"/>
            <a:ext cx="2460149" cy="209587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36" name="Text 32"/>
          <p:cNvSpPr/>
          <p:nvPr/>
        </p:nvSpPr>
        <p:spPr>
          <a:xfrm>
            <a:off x="3427754" y="3726827"/>
            <a:ext cx="2163269" cy="16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Handshake обязателен до общения</a:t>
            </a:r>
            <a:endParaRPr lang="en-US" sz="494" dirty="0"/>
          </a:p>
        </p:txBody>
      </p:sp>
      <p:sp>
        <p:nvSpPr>
          <p:cNvPr id="37" name="Shape 33"/>
          <p:cNvSpPr/>
          <p:nvPr/>
        </p:nvSpPr>
        <p:spPr>
          <a:xfrm>
            <a:off x="3369566" y="3995863"/>
            <a:ext cx="2460149" cy="207205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38" name="Text 34"/>
          <p:cNvSpPr/>
          <p:nvPr/>
        </p:nvSpPr>
        <p:spPr>
          <a:xfrm>
            <a:off x="3427428" y="4072076"/>
            <a:ext cx="2356004" cy="16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 → B: {peer_id, pubKey}</a:t>
            </a:r>
            <a:endParaRPr lang="en-US" sz="494" dirty="0"/>
          </a:p>
        </p:txBody>
      </p:sp>
      <p:sp>
        <p:nvSpPr>
          <p:cNvPr id="39" name="Shape 35"/>
          <p:cNvSpPr/>
          <p:nvPr/>
        </p:nvSpPr>
        <p:spPr>
          <a:xfrm>
            <a:off x="3369566" y="4372166"/>
            <a:ext cx="2460149" cy="207205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40" name="Text 36"/>
          <p:cNvSpPr/>
          <p:nvPr/>
        </p:nvSpPr>
        <p:spPr>
          <a:xfrm>
            <a:off x="3418168" y="4438853"/>
            <a:ext cx="2450892" cy="16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 верифицирует подпись A</a:t>
            </a:r>
            <a:endParaRPr lang="en-US" sz="494" dirty="0"/>
          </a:p>
        </p:txBody>
      </p:sp>
      <p:sp>
        <p:nvSpPr>
          <p:cNvPr id="41" name="Shape 37"/>
          <p:cNvSpPr/>
          <p:nvPr/>
        </p:nvSpPr>
        <p:spPr>
          <a:xfrm>
            <a:off x="6135216" y="3281363"/>
            <a:ext cx="2784157" cy="1455199"/>
          </a:xfrm>
          <a:prstGeom prst="roundRect">
            <a:avLst/>
          </a:prstGeom>
          <a:solidFill>
            <a:srgbClr val="262630"/>
          </a:solidFill>
          <a:ln w="9050">
            <a:solidFill>
              <a:srgbClr val="A2A2A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 rot="10800000">
            <a:off x="8839200" y="3281363"/>
            <a:ext cx="79481" cy="1455199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3" name="Text 39"/>
          <p:cNvSpPr/>
          <p:nvPr/>
        </p:nvSpPr>
        <p:spPr>
          <a:xfrm>
            <a:off x="6316731" y="3346949"/>
            <a:ext cx="2603383" cy="14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641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Спам и подмена</a:t>
            </a:r>
            <a:endParaRPr lang="en-US" sz="641" dirty="0"/>
          </a:p>
        </p:txBody>
      </p:sp>
      <p:sp>
        <p:nvSpPr>
          <p:cNvPr id="44" name="Shape 40"/>
          <p:cNvSpPr/>
          <p:nvPr/>
        </p:nvSpPr>
        <p:spPr>
          <a:xfrm>
            <a:off x="6315735" y="3583834"/>
            <a:ext cx="2460149" cy="285800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45" name="Text 41"/>
          <p:cNvSpPr/>
          <p:nvPr/>
        </p:nvSpPr>
        <p:spPr>
          <a:xfrm>
            <a:off x="6373927" y="3631468"/>
            <a:ext cx="2163269" cy="16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8"/>
              </a:lnSpc>
              <a:buNone/>
            </a:pPr>
            <a:r>
              <a:rPr lang="en-US" sz="428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Rate limiting — max N пакетов/с → Один узел не может засорить сеть — поток пакетов от каждого ограничен</a:t>
            </a:r>
            <a:endParaRPr lang="en-US" sz="428" dirty="0"/>
          </a:p>
        </p:txBody>
      </p:sp>
      <p:sp>
        <p:nvSpPr>
          <p:cNvPr id="46" name="Shape 42"/>
          <p:cNvSpPr/>
          <p:nvPr/>
        </p:nvSpPr>
        <p:spPr>
          <a:xfrm>
            <a:off x="6315735" y="3995863"/>
            <a:ext cx="2460149" cy="285800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47" name="Text 43"/>
          <p:cNvSpPr/>
          <p:nvPr/>
        </p:nvSpPr>
        <p:spPr>
          <a:xfrm>
            <a:off x="6373592" y="4038733"/>
            <a:ext cx="2356004" cy="26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8"/>
              </a:lnSpc>
              <a:buNone/>
            </a:pPr>
            <a:r>
              <a:rPr lang="en-US" sz="428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PacketDeduplicator — LRU replay → Одно сообщение не обрабатывается дважды, даже если пришло по двум путям</a:t>
            </a:r>
            <a:endParaRPr lang="en-US" sz="428" dirty="0"/>
          </a:p>
        </p:txBody>
      </p:sp>
      <p:sp>
        <p:nvSpPr>
          <p:cNvPr id="48" name="Shape 44"/>
          <p:cNvSpPr/>
          <p:nvPr/>
        </p:nvSpPr>
        <p:spPr>
          <a:xfrm>
            <a:off x="6315735" y="4372166"/>
            <a:ext cx="2460149" cy="285800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49" name="Text 45"/>
          <p:cNvSpPr/>
          <p:nvPr/>
        </p:nvSpPr>
        <p:spPr>
          <a:xfrm>
            <a:off x="6364337" y="4431708"/>
            <a:ext cx="2450892" cy="16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Self-announce filter по IP+peerId → Устройство не реагирует на собственные сигналы, отражённые сетью</a:t>
            </a:r>
            <a:endParaRPr lang="en-US" sz="494" dirty="0"/>
          </a:p>
        </p:txBody>
      </p:sp>
      <p:sp>
        <p:nvSpPr>
          <p:cNvPr id="50" name="Text 46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109538"/>
            <a:ext cx="8420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Пользовательский интерфейс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60327" t="0" b="54390"/>
          <a:stretch/>
        </p:blipFill>
        <p:spPr>
          <a:xfrm>
            <a:off x="-987642" y="4351901"/>
            <a:ext cx="649505" cy="79159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72203" t="0" b="67818"/>
          <a:stretch/>
        </p:blipFill>
        <p:spPr>
          <a:xfrm>
            <a:off x="-1238257" y="4086225"/>
            <a:ext cx="594401" cy="7295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1950" y="1152525"/>
            <a:ext cx="4085549" cy="3455785"/>
          </a:xfrm>
          <a:prstGeom prst="roundRect">
            <a:avLst/>
          </a:prstGeom>
          <a:solidFill>
            <a:srgbClr val="262630"/>
          </a:solidFill>
          <a:ln w="11694">
            <a:solidFill>
              <a:srgbClr val="A2A2A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61950" y="1152525"/>
            <a:ext cx="115469" cy="3455785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Text 3"/>
          <p:cNvSpPr/>
          <p:nvPr/>
        </p:nvSpPr>
        <p:spPr>
          <a:xfrm>
            <a:off x="628306" y="1285624"/>
            <a:ext cx="3820276" cy="29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9"/>
              </a:lnSpc>
              <a:buNone/>
            </a:pPr>
            <a:r>
              <a:rPr lang="en-US" sz="829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Jetpack Compose </a:t>
            </a:r>
            <a:endParaRPr lang="en-US" sz="829" dirty="0"/>
          </a:p>
        </p:txBody>
      </p:sp>
      <p:sp>
        <p:nvSpPr>
          <p:cNvPr id="8" name="Shape 4"/>
          <p:cNvSpPr/>
          <p:nvPr/>
        </p:nvSpPr>
        <p:spPr>
          <a:xfrm>
            <a:off x="626845" y="1771183"/>
            <a:ext cx="3610090" cy="425327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9" name="Text 5"/>
          <p:cNvSpPr/>
          <p:nvPr/>
        </p:nvSpPr>
        <p:spPr>
          <a:xfrm>
            <a:off x="712236" y="1906703"/>
            <a:ext cx="3174441" cy="328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ChatListScreen</a:t>
            </a:r>
            <a:endParaRPr lang="en-US" sz="639" dirty="0"/>
          </a:p>
        </p:txBody>
      </p:sp>
      <p:sp>
        <p:nvSpPr>
          <p:cNvPr id="10" name="Shape 6"/>
          <p:cNvSpPr/>
          <p:nvPr/>
        </p:nvSpPr>
        <p:spPr>
          <a:xfrm>
            <a:off x="626845" y="2452674"/>
            <a:ext cx="3610090" cy="420494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1" name="Text 7"/>
          <p:cNvSpPr/>
          <p:nvPr/>
        </p:nvSpPr>
        <p:spPr>
          <a:xfrm>
            <a:off x="711761" y="2607339"/>
            <a:ext cx="3457265" cy="328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ChatScreen</a:t>
            </a:r>
            <a:endParaRPr lang="en-US" sz="639" dirty="0"/>
          </a:p>
        </p:txBody>
      </p:sp>
      <p:sp>
        <p:nvSpPr>
          <p:cNvPr id="12" name="Shape 8"/>
          <p:cNvSpPr/>
          <p:nvPr/>
        </p:nvSpPr>
        <p:spPr>
          <a:xfrm>
            <a:off x="626845" y="3216330"/>
            <a:ext cx="3610090" cy="420494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3" name="Text 9"/>
          <p:cNvSpPr/>
          <p:nvPr/>
        </p:nvSpPr>
        <p:spPr>
          <a:xfrm>
            <a:off x="711761" y="3351661"/>
            <a:ext cx="3596506" cy="328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ActiveCallScreen</a:t>
            </a:r>
            <a:endParaRPr lang="en-US" sz="639" dirty="0"/>
          </a:p>
        </p:txBody>
      </p:sp>
      <p:sp>
        <p:nvSpPr>
          <p:cNvPr id="14" name="Shape 10"/>
          <p:cNvSpPr/>
          <p:nvPr/>
        </p:nvSpPr>
        <p:spPr>
          <a:xfrm>
            <a:off x="626845" y="3897820"/>
            <a:ext cx="3610090" cy="420494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5" name="Text 11"/>
          <p:cNvSpPr/>
          <p:nvPr/>
        </p:nvSpPr>
        <p:spPr>
          <a:xfrm>
            <a:off x="711761" y="4033151"/>
            <a:ext cx="3596506" cy="328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SettingsScreen</a:t>
            </a:r>
            <a:endParaRPr lang="en-US" sz="639" dirty="0"/>
          </a:p>
        </p:txBody>
      </p:sp>
      <p:sp>
        <p:nvSpPr>
          <p:cNvPr id="16" name="Shape 12"/>
          <p:cNvSpPr/>
          <p:nvPr/>
        </p:nvSpPr>
        <p:spPr>
          <a:xfrm>
            <a:off x="4695425" y="1152525"/>
            <a:ext cx="4085549" cy="3455785"/>
          </a:xfrm>
          <a:prstGeom prst="roundRect">
            <a:avLst/>
          </a:prstGeom>
          <a:solidFill>
            <a:srgbClr val="262630"/>
          </a:solidFill>
          <a:ln w="11694">
            <a:solidFill>
              <a:srgbClr val="A2A2A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 rot="10800000">
            <a:off x="8662988" y="1152525"/>
            <a:ext cx="115469" cy="3455785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8" name="Text 14"/>
          <p:cNvSpPr/>
          <p:nvPr/>
        </p:nvSpPr>
        <p:spPr>
          <a:xfrm>
            <a:off x="4961772" y="1235422"/>
            <a:ext cx="3820276" cy="186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9"/>
              </a:lnSpc>
              <a:buNone/>
            </a:pPr>
            <a:r>
              <a:rPr lang="en-US" sz="829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UX-фичи</a:t>
            </a:r>
            <a:endParaRPr lang="en-US" sz="829" dirty="0"/>
          </a:p>
        </p:txBody>
      </p:sp>
      <p:sp>
        <p:nvSpPr>
          <p:cNvPr id="19" name="Shape 15"/>
          <p:cNvSpPr/>
          <p:nvPr/>
        </p:nvSpPr>
        <p:spPr>
          <a:xfrm>
            <a:off x="4960311" y="1537839"/>
            <a:ext cx="3610090" cy="264903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20" name="Text 16"/>
          <p:cNvSpPr/>
          <p:nvPr/>
        </p:nvSpPr>
        <p:spPr>
          <a:xfrm>
            <a:off x="5045711" y="1622244"/>
            <a:ext cx="3174441" cy="2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Аватары</a:t>
            </a:r>
            <a:endParaRPr lang="en-US" sz="639" dirty="0"/>
          </a:p>
        </p:txBody>
      </p:sp>
      <p:sp>
        <p:nvSpPr>
          <p:cNvPr id="21" name="Shape 17"/>
          <p:cNvSpPr/>
          <p:nvPr/>
        </p:nvSpPr>
        <p:spPr>
          <a:xfrm>
            <a:off x="4960311" y="1962287"/>
            <a:ext cx="3610090" cy="261893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22" name="Text 18"/>
          <p:cNvSpPr/>
          <p:nvPr/>
        </p:nvSpPr>
        <p:spPr>
          <a:xfrm>
            <a:off x="5045218" y="2058615"/>
            <a:ext cx="3457265" cy="2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Псевдонимы</a:t>
            </a:r>
            <a:endParaRPr lang="en-US" sz="639" dirty="0"/>
          </a:p>
        </p:txBody>
      </p:sp>
      <p:sp>
        <p:nvSpPr>
          <p:cNvPr id="23" name="Shape 19"/>
          <p:cNvSpPr/>
          <p:nvPr/>
        </p:nvSpPr>
        <p:spPr>
          <a:xfrm>
            <a:off x="4960311" y="2437909"/>
            <a:ext cx="3610090" cy="261893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24" name="Text 20"/>
          <p:cNvSpPr/>
          <p:nvPr/>
        </p:nvSpPr>
        <p:spPr>
          <a:xfrm>
            <a:off x="5045218" y="2522196"/>
            <a:ext cx="3596506" cy="2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Голосовые записи</a:t>
            </a:r>
            <a:endParaRPr lang="en-US" sz="639" dirty="0"/>
          </a:p>
        </p:txBody>
      </p:sp>
      <p:sp>
        <p:nvSpPr>
          <p:cNvPr id="25" name="Shape 21"/>
          <p:cNvSpPr/>
          <p:nvPr/>
        </p:nvSpPr>
        <p:spPr>
          <a:xfrm>
            <a:off x="4960311" y="2862356"/>
            <a:ext cx="3610090" cy="261893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26" name="Text 22"/>
          <p:cNvSpPr/>
          <p:nvPr/>
        </p:nvSpPr>
        <p:spPr>
          <a:xfrm>
            <a:off x="5045218" y="2946644"/>
            <a:ext cx="3596506" cy="2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Удаление чата</a:t>
            </a:r>
            <a:endParaRPr lang="en-US" sz="639" dirty="0"/>
          </a:p>
        </p:txBody>
      </p:sp>
      <p:sp>
        <p:nvSpPr>
          <p:cNvPr id="27" name="Shape 23"/>
          <p:cNvSpPr/>
          <p:nvPr/>
        </p:nvSpPr>
        <p:spPr>
          <a:xfrm>
            <a:off x="4960311" y="3268742"/>
            <a:ext cx="3610090" cy="261893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28" name="Text 24"/>
          <p:cNvSpPr/>
          <p:nvPr/>
        </p:nvSpPr>
        <p:spPr>
          <a:xfrm>
            <a:off x="5045218" y="3353030"/>
            <a:ext cx="3596506" cy="2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Статусы доставки</a:t>
            </a:r>
            <a:endParaRPr lang="en-US" sz="639" dirty="0"/>
          </a:p>
        </p:txBody>
      </p:sp>
      <p:sp>
        <p:nvSpPr>
          <p:cNvPr id="29" name="Shape 25"/>
          <p:cNvSpPr/>
          <p:nvPr/>
        </p:nvSpPr>
        <p:spPr>
          <a:xfrm>
            <a:off x="4960311" y="3675128"/>
            <a:ext cx="3610090" cy="261893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30" name="Text 26"/>
          <p:cNvSpPr/>
          <p:nvPr/>
        </p:nvSpPr>
        <p:spPr>
          <a:xfrm>
            <a:off x="5045218" y="3759416"/>
            <a:ext cx="3596506" cy="2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Call метрики</a:t>
            </a:r>
            <a:endParaRPr lang="en-US" sz="639" dirty="0"/>
          </a:p>
        </p:txBody>
      </p:sp>
      <p:sp>
        <p:nvSpPr>
          <p:cNvPr id="31" name="Shape 27"/>
          <p:cNvSpPr/>
          <p:nvPr/>
        </p:nvSpPr>
        <p:spPr>
          <a:xfrm>
            <a:off x="4960311" y="4081514"/>
            <a:ext cx="3610090" cy="261893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32" name="Text 28"/>
          <p:cNvSpPr/>
          <p:nvPr/>
        </p:nvSpPr>
        <p:spPr>
          <a:xfrm>
            <a:off x="5045218" y="4165802"/>
            <a:ext cx="3596506" cy="2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Уведомления</a:t>
            </a:r>
            <a:endParaRPr lang="en-US" sz="639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rcRect l="0" r="24546" t="0" b="41494"/>
          <a:stretch/>
        </p:blipFill>
        <p:spPr>
          <a:xfrm>
            <a:off x="7908704" y="4128063"/>
            <a:ext cx="1235292" cy="1015437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0" r="44809" t="0" b="57944"/>
          <a:stretch/>
        </p:blipFill>
        <p:spPr>
          <a:xfrm>
            <a:off x="7658107" y="3862387"/>
            <a:ext cx="1180188" cy="953381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705725" y="109538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563" y="185738"/>
            <a:ext cx="8420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Cкрины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766277"/>
            <a:ext cx="2029932" cy="429341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7747" y="714375"/>
            <a:ext cx="2035736" cy="43365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1150" y="1172871"/>
            <a:ext cx="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90" spc="-14" kern="0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endParaRPr lang="en-US" sz="69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62219" y="766763"/>
            <a:ext cx="1928813" cy="4281488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919357" y="766763"/>
            <a:ext cx="2014538" cy="4291013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924244" y="1385888"/>
            <a:ext cx="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04"/>
              </a:lnSpc>
              <a:buNone/>
            </a:pPr>
            <a:r>
              <a:rPr lang="en-US" sz="663" spc="-13" kern="0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endParaRPr lang="en-US" sz="663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03159" y="766763"/>
            <a:ext cx="1928813" cy="4281488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365059" y="766763"/>
            <a:ext cx="2009775" cy="4281488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rcRect l="0" r="49854" t="0" b="50000"/>
          <a:stretch/>
        </p:blipFill>
        <p:spPr>
          <a:xfrm>
            <a:off x="-816183" y="4275701"/>
            <a:ext cx="820964" cy="867799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rcRect l="0" r="64185" t="0" b="64457"/>
          <a:stretch/>
        </p:blipFill>
        <p:spPr>
          <a:xfrm>
            <a:off x="-1066798" y="4010025"/>
            <a:ext cx="765860" cy="805744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477125" y="923925"/>
            <a:ext cx="1476375" cy="692051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477125" y="1938337"/>
            <a:ext cx="1476375" cy="681038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109538"/>
            <a:ext cx="8420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Тесты и надёжность инфраструктуры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28597"/>
          <a:stretch/>
        </p:blipFill>
        <p:spPr>
          <a:xfrm>
            <a:off x="7094320" y="-496324"/>
            <a:ext cx="1637147" cy="123927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28720" t="0" b="47943"/>
          <a:stretch/>
        </p:blipFill>
        <p:spPr>
          <a:xfrm>
            <a:off x="6843706" y="-762000"/>
            <a:ext cx="1524223" cy="118011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757363" y="1238250"/>
            <a:ext cx="2576652" cy="2953619"/>
          </a:xfrm>
          <a:prstGeom prst="roundRect">
            <a:avLst/>
          </a:prstGeom>
          <a:solidFill>
            <a:srgbClr val="262630"/>
          </a:solidFill>
          <a:ln w="8139">
            <a:solidFill>
              <a:srgbClr val="A2A2A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757363" y="1238250"/>
            <a:ext cx="72823" cy="2953619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Shape 3"/>
          <p:cNvSpPr/>
          <p:nvPr/>
        </p:nvSpPr>
        <p:spPr>
          <a:xfrm rot="5400000">
            <a:off x="3037512" y="2891801"/>
            <a:ext cx="72823" cy="251882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8" name="Text 4"/>
          <p:cNvSpPr/>
          <p:nvPr/>
        </p:nvSpPr>
        <p:spPr>
          <a:xfrm>
            <a:off x="1924431" y="1443868"/>
            <a:ext cx="2409351" cy="20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77"/>
              </a:lnSpc>
              <a:buNone/>
            </a:pPr>
            <a:r>
              <a:rPr lang="en-US" sz="57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Покрытие логики маршрутизации</a:t>
            </a:r>
            <a:endParaRPr lang="en-US" sz="577" dirty="0"/>
          </a:p>
          <a:p>
            <a:pPr algn="l" indent="0" marL="0">
              <a:lnSpc>
                <a:spcPts val="577"/>
              </a:lnSpc>
              <a:buNone/>
            </a:pPr>
            <a:r>
              <a:rPr lang="en-US" sz="256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6 unit-тестов · cargo test </a:t>
            </a:r>
            <a:endParaRPr lang="en-US" sz="577" dirty="0"/>
          </a:p>
        </p:txBody>
      </p:sp>
      <p:sp>
        <p:nvSpPr>
          <p:cNvPr id="9" name="Shape 5"/>
          <p:cNvSpPr/>
          <p:nvPr/>
        </p:nvSpPr>
        <p:spPr>
          <a:xfrm>
            <a:off x="1924431" y="1668850"/>
            <a:ext cx="2276792" cy="296037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0" name="Text 6"/>
          <p:cNvSpPr/>
          <p:nvPr/>
        </p:nvSpPr>
        <p:spPr>
          <a:xfrm>
            <a:off x="1978279" y="1763174"/>
            <a:ext cx="2002039" cy="228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4"/>
              </a:lnSpc>
              <a:buNone/>
            </a:pPr>
            <a:r>
              <a:rPr lang="en-US" sz="444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Узел не строит маршрут через себя</a:t>
            </a:r>
            <a:endParaRPr lang="en-US" sz="444" dirty="0"/>
          </a:p>
        </p:txBody>
      </p:sp>
      <p:sp>
        <p:nvSpPr>
          <p:cNvPr id="11" name="Shape 7"/>
          <p:cNvSpPr/>
          <p:nvPr/>
        </p:nvSpPr>
        <p:spPr>
          <a:xfrm>
            <a:off x="1924431" y="2143183"/>
            <a:ext cx="2276792" cy="292673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2" name="Text 8"/>
          <p:cNvSpPr/>
          <p:nvPr/>
        </p:nvSpPr>
        <p:spPr>
          <a:xfrm>
            <a:off x="1977972" y="2250832"/>
            <a:ext cx="2180409" cy="22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4"/>
              </a:lnSpc>
              <a:buNone/>
            </a:pPr>
            <a:r>
              <a:rPr lang="en-US" sz="444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Из двух путей выбирается короткий</a:t>
            </a:r>
            <a:endParaRPr lang="en-US" sz="444" dirty="0"/>
          </a:p>
        </p:txBody>
      </p:sp>
      <p:sp>
        <p:nvSpPr>
          <p:cNvPr id="13" name="Shape 9"/>
          <p:cNvSpPr/>
          <p:nvPr/>
        </p:nvSpPr>
        <p:spPr>
          <a:xfrm>
            <a:off x="1924431" y="2674704"/>
            <a:ext cx="2276792" cy="292673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4" name="Text 10"/>
          <p:cNvSpPr/>
          <p:nvPr/>
        </p:nvSpPr>
        <p:spPr>
          <a:xfrm>
            <a:off x="1977972" y="2768898"/>
            <a:ext cx="2268225" cy="22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4"/>
              </a:lnSpc>
              <a:buNone/>
            </a:pPr>
            <a:r>
              <a:rPr lang="en-US" sz="444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Функция стоимости считает правильно</a:t>
            </a:r>
            <a:endParaRPr lang="en-US" sz="444" dirty="0"/>
          </a:p>
        </p:txBody>
      </p:sp>
      <p:sp>
        <p:nvSpPr>
          <p:cNvPr id="15" name="Shape 11"/>
          <p:cNvSpPr/>
          <p:nvPr/>
        </p:nvSpPr>
        <p:spPr>
          <a:xfrm>
            <a:off x="1924431" y="3149037"/>
            <a:ext cx="2276792" cy="292673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6" name="Text 12"/>
          <p:cNvSpPr/>
          <p:nvPr/>
        </p:nvSpPr>
        <p:spPr>
          <a:xfrm>
            <a:off x="1977972" y="3243231"/>
            <a:ext cx="2268225" cy="22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4"/>
              </a:lnSpc>
              <a:buNone/>
            </a:pPr>
            <a:r>
              <a:rPr lang="en-US" sz="444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После 3 сбоев маршрут помечается нерабочим</a:t>
            </a:r>
            <a:endParaRPr lang="en-US" sz="444" dirty="0"/>
          </a:p>
        </p:txBody>
      </p:sp>
      <p:sp>
        <p:nvSpPr>
          <p:cNvPr id="17" name="Shape 13"/>
          <p:cNvSpPr/>
          <p:nvPr/>
        </p:nvSpPr>
        <p:spPr>
          <a:xfrm>
            <a:off x="1952272" y="3600717"/>
            <a:ext cx="2276792" cy="292673"/>
          </a:xfrm>
          <a:prstGeom prst="rect">
            <a:avLst/>
          </a:prstGeom>
          <a:solidFill>
            <a:srgbClr val="30303B"/>
          </a:solidFill>
          <a:ln/>
        </p:spPr>
      </p:sp>
      <p:sp>
        <p:nvSpPr>
          <p:cNvPr id="18" name="Text 14"/>
          <p:cNvSpPr/>
          <p:nvPr/>
        </p:nvSpPr>
        <p:spPr>
          <a:xfrm>
            <a:off x="2005822" y="3694910"/>
            <a:ext cx="2268225" cy="22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4"/>
              </a:lnSpc>
              <a:buNone/>
            </a:pPr>
            <a:r>
              <a:rPr lang="en-US" sz="444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EWMA-сглаживание RTT работает корректно</a:t>
            </a:r>
            <a:endParaRPr lang="en-US" sz="444" dirty="0"/>
          </a:p>
        </p:txBody>
      </p:sp>
      <p:sp>
        <p:nvSpPr>
          <p:cNvPr id="19" name="Shape 15"/>
          <p:cNvSpPr/>
          <p:nvPr/>
        </p:nvSpPr>
        <p:spPr>
          <a:xfrm>
            <a:off x="4805223" y="1238250"/>
            <a:ext cx="2576652" cy="2953619"/>
          </a:xfrm>
          <a:prstGeom prst="roundRect">
            <a:avLst/>
          </a:prstGeom>
          <a:solidFill>
            <a:srgbClr val="262630"/>
          </a:solidFill>
          <a:ln w="8139">
            <a:solidFill>
              <a:srgbClr val="A2A2A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 rot="10800000">
            <a:off x="7305675" y="1233488"/>
            <a:ext cx="72823" cy="2953619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1" name="Shape 17"/>
          <p:cNvSpPr/>
          <p:nvPr/>
        </p:nvSpPr>
        <p:spPr>
          <a:xfrm rot="5400000">
            <a:off x="6023599" y="10488"/>
            <a:ext cx="72823" cy="251882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2" name="Text 18"/>
          <p:cNvSpPr/>
          <p:nvPr/>
        </p:nvSpPr>
        <p:spPr>
          <a:xfrm>
            <a:off x="4978710" y="1471712"/>
            <a:ext cx="2043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77"/>
              </a:lnSpc>
              <a:buNone/>
            </a:pPr>
            <a:r>
              <a:rPr lang="en-US" sz="57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Wi-Fi Direct + BLE Fallback</a:t>
            </a:r>
            <a:endParaRPr lang="en-US" sz="577" dirty="0"/>
          </a:p>
        </p:txBody>
      </p:sp>
      <p:sp>
        <p:nvSpPr>
          <p:cNvPr id="23" name="Text 19"/>
          <p:cNvSpPr/>
          <p:nvPr/>
        </p:nvSpPr>
        <p:spPr>
          <a:xfrm>
            <a:off x="4978710" y="1897941"/>
            <a:ext cx="676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13"/>
              </a:lnSpc>
              <a:buNone/>
            </a:pPr>
            <a:r>
              <a:rPr lang="en-US" sz="513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Wi-Fi есть</a:t>
            </a:r>
            <a:endParaRPr lang="en-US" sz="513" dirty="0"/>
          </a:p>
        </p:txBody>
      </p:sp>
      <p:sp>
        <p:nvSpPr>
          <p:cNvPr id="24" name="Shape 20"/>
          <p:cNvSpPr/>
          <p:nvPr/>
        </p:nvSpPr>
        <p:spPr>
          <a:xfrm>
            <a:off x="4978710" y="2026453"/>
            <a:ext cx="2043330" cy="11780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5" name="Text 21"/>
          <p:cNvSpPr/>
          <p:nvPr/>
        </p:nvSpPr>
        <p:spPr>
          <a:xfrm>
            <a:off x="4978710" y="2679719"/>
            <a:ext cx="12144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13"/>
              </a:lnSpc>
              <a:buNone/>
            </a:pPr>
            <a:r>
              <a:rPr lang="en-US" sz="513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Общего роутера нет</a:t>
            </a:r>
            <a:endParaRPr lang="en-US" sz="513" dirty="0"/>
          </a:p>
        </p:txBody>
      </p:sp>
      <p:sp>
        <p:nvSpPr>
          <p:cNvPr id="26" name="Shape 22"/>
          <p:cNvSpPr/>
          <p:nvPr/>
        </p:nvSpPr>
        <p:spPr>
          <a:xfrm>
            <a:off x="4978710" y="2808230"/>
            <a:ext cx="1430759" cy="1178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3"/>
          <p:cNvSpPr/>
          <p:nvPr/>
        </p:nvSpPr>
        <p:spPr>
          <a:xfrm>
            <a:off x="4978710" y="3461496"/>
            <a:ext cx="12144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13"/>
              </a:lnSpc>
              <a:buNone/>
            </a:pPr>
            <a:r>
              <a:rPr lang="en-US" sz="513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Общего роутера нет</a:t>
            </a:r>
            <a:endParaRPr lang="en-US" sz="513" dirty="0"/>
          </a:p>
        </p:txBody>
      </p:sp>
      <p:sp>
        <p:nvSpPr>
          <p:cNvPr id="28" name="Shape 24"/>
          <p:cNvSpPr/>
          <p:nvPr/>
        </p:nvSpPr>
        <p:spPr>
          <a:xfrm>
            <a:off x="4978710" y="3590007"/>
            <a:ext cx="606145" cy="11780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5"/>
          <p:cNvSpPr/>
          <p:nvPr/>
        </p:nvSpPr>
        <p:spPr>
          <a:xfrm>
            <a:off x="4978710" y="3855597"/>
            <a:ext cx="19148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513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BLE Advertisement — работает даже без Wi-Fi, только Bluetooth</a:t>
            </a:r>
            <a:endParaRPr lang="en-US" sz="513" dirty="0"/>
          </a:p>
        </p:txBody>
      </p:sp>
      <p:sp>
        <p:nvSpPr>
          <p:cNvPr id="30" name="Shape 26"/>
          <p:cNvSpPr/>
          <p:nvPr/>
        </p:nvSpPr>
        <p:spPr>
          <a:xfrm>
            <a:off x="1000125" y="4429125"/>
            <a:ext cx="238125" cy="238125"/>
          </a:xfrm>
          <a:prstGeom prst="rect">
            <a:avLst/>
          </a:prstGeom>
          <a:solidFill>
            <a:srgbClr val="1A1A28"/>
          </a:solidFill>
          <a:ln w="9049">
            <a:solidFill>
              <a:srgbClr val="00C85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71563" y="4500563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i</a:t>
            </a:r>
            <a:endParaRPr lang="en-US" sz="713" dirty="0"/>
          </a:p>
        </p:txBody>
      </p:sp>
      <p:sp>
        <p:nvSpPr>
          <p:cNvPr id="32" name="Text 28"/>
          <p:cNvSpPr/>
          <p:nvPr/>
        </p:nvSpPr>
        <p:spPr>
          <a:xfrm>
            <a:off x="2695575" y="4752975"/>
            <a:ext cx="13239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WifiP2p: peer SM-A536E found  GO=192.168.49.1</a:t>
            </a:r>
            <a:endParaRPr lang="en-US" sz="427" dirty="0"/>
          </a:p>
        </p:txBody>
      </p:sp>
      <p:sp>
        <p:nvSpPr>
          <p:cNvPr id="33" name="Text 29"/>
          <p:cNvSpPr/>
          <p:nvPr/>
        </p:nvSpPr>
        <p:spPr>
          <a:xfrm>
            <a:off x="1000125" y="4752975"/>
            <a:ext cx="150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UDP broadcast: no response in 3s — trying Wi-Fi Direct</a:t>
            </a:r>
            <a:endParaRPr lang="en-US" sz="427" dirty="0"/>
          </a:p>
        </p:txBody>
      </p:sp>
      <p:sp>
        <p:nvSpPr>
          <p:cNvPr id="34" name="Text 30"/>
          <p:cNvSpPr/>
          <p:nvPr/>
        </p:nvSpPr>
        <p:spPr>
          <a:xfrm>
            <a:off x="7539037" y="3533775"/>
            <a:ext cx="12144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UDPЛоги — переключение каналов в реальном времени:</a:t>
            </a:r>
            <a:endParaRPr lang="en-US" sz="427" dirty="0"/>
          </a:p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broadcast: no response in 3s — trying Wi-Fi Direct</a:t>
            </a:r>
            <a:endParaRPr lang="en-US" sz="427" dirty="0"/>
          </a:p>
        </p:txBody>
      </p:sp>
      <p:sp>
        <p:nvSpPr>
          <p:cNvPr id="35" name="Shape 31"/>
          <p:cNvSpPr/>
          <p:nvPr/>
        </p:nvSpPr>
        <p:spPr>
          <a:xfrm>
            <a:off x="2695575" y="4429125"/>
            <a:ext cx="238125" cy="238125"/>
          </a:xfrm>
          <a:prstGeom prst="rect">
            <a:avLst/>
          </a:prstGeom>
          <a:solidFill>
            <a:srgbClr val="3B82F6"/>
          </a:solidFill>
          <a:ln w="9049">
            <a:solidFill>
              <a:srgbClr val="00C85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767013" y="4500563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i</a:t>
            </a:r>
            <a:endParaRPr lang="en-US" sz="713" dirty="0"/>
          </a:p>
        </p:txBody>
      </p:sp>
      <p:sp>
        <p:nvSpPr>
          <p:cNvPr id="37" name="Text 33"/>
          <p:cNvSpPr/>
          <p:nvPr/>
        </p:nvSpPr>
        <p:spPr>
          <a:xfrm>
            <a:off x="6505575" y="4752975"/>
            <a:ext cx="2100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BLE: peer 6fd573 discovered — session restored</a:t>
            </a:r>
            <a:endParaRPr lang="en-US" sz="427" dirty="0"/>
          </a:p>
        </p:txBody>
      </p:sp>
      <p:sp>
        <p:nvSpPr>
          <p:cNvPr id="38" name="Shape 34"/>
          <p:cNvSpPr/>
          <p:nvPr/>
        </p:nvSpPr>
        <p:spPr>
          <a:xfrm>
            <a:off x="6505575" y="4429125"/>
            <a:ext cx="238125" cy="238125"/>
          </a:xfrm>
          <a:prstGeom prst="rect">
            <a:avLst/>
          </a:prstGeom>
          <a:solidFill>
            <a:srgbClr val="1A3D2B"/>
          </a:solidFill>
          <a:ln w="9049">
            <a:solidFill>
              <a:srgbClr val="00C85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577013" y="4500563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I</a:t>
            </a:r>
            <a:endParaRPr lang="en-US" sz="713" dirty="0"/>
          </a:p>
        </p:txBody>
      </p:sp>
      <p:sp>
        <p:nvSpPr>
          <p:cNvPr id="40" name="Text 36"/>
          <p:cNvSpPr/>
          <p:nvPr/>
        </p:nvSpPr>
        <p:spPr>
          <a:xfrm>
            <a:off x="4329113" y="4752975"/>
            <a:ext cx="16144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Wi-Fi Direct lost — starting BLE scan</a:t>
            </a:r>
            <a:endParaRPr lang="en-US" sz="427" dirty="0"/>
          </a:p>
        </p:txBody>
      </p:sp>
      <p:sp>
        <p:nvSpPr>
          <p:cNvPr id="41" name="Shape 37"/>
          <p:cNvSpPr/>
          <p:nvPr/>
        </p:nvSpPr>
        <p:spPr>
          <a:xfrm>
            <a:off x="4329113" y="4429125"/>
            <a:ext cx="238125" cy="238125"/>
          </a:xfrm>
          <a:prstGeom prst="rect">
            <a:avLst/>
          </a:prstGeom>
          <a:solidFill>
            <a:srgbClr val="B97D53"/>
          </a:solidFill>
          <a:ln w="9049">
            <a:solidFill>
              <a:srgbClr val="00C85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400550" y="4500563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</a:t>
            </a:r>
            <a:endParaRPr lang="en-US" sz="713" dirty="0"/>
          </a:p>
        </p:txBody>
      </p:sp>
      <p:sp>
        <p:nvSpPr>
          <p:cNvPr id="43" name="Text 39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7288" y="1428750"/>
            <a:ext cx="6824663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94"/>
              </a:lnSpc>
              <a:buNone/>
            </a:pPr>
            <a:r>
              <a:rPr lang="en-US" sz="4560" spc="228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СПАСИБО ЗА ВНИМАНИЕ</a:t>
            </a:r>
            <a:endParaRPr lang="en-US" sz="4560" dirty="0"/>
          </a:p>
        </p:txBody>
      </p:sp>
      <p:sp>
        <p:nvSpPr>
          <p:cNvPr id="3" name="Text 1"/>
          <p:cNvSpPr/>
          <p:nvPr/>
        </p:nvSpPr>
        <p:spPr>
          <a:xfrm>
            <a:off x="190500" y="4786313"/>
            <a:ext cx="243363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16"/>
              </a:lnSpc>
              <a:buNone/>
            </a:pPr>
            <a:r>
              <a:rPr lang="en-US" sz="2316" spc="-46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MASHLINK</a:t>
            </a:r>
            <a:endParaRPr lang="en-US" sz="2316" dirty="0"/>
          </a:p>
        </p:txBody>
      </p:sp>
      <p:sp>
        <p:nvSpPr>
          <p:cNvPr id="4" name="Text 2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  <p:sp>
        <p:nvSpPr>
          <p:cNvPr id="5" name="Text 3"/>
          <p:cNvSpPr/>
          <p:nvPr/>
        </p:nvSpPr>
        <p:spPr>
          <a:xfrm>
            <a:off x="190500" y="142875"/>
            <a:ext cx="1314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АЛИХАНОВ МУХАМЕД</a:t>
            </a:r>
            <a:endParaRPr lang="en-US" sz="784" dirty="0"/>
          </a:p>
        </p:txBody>
      </p:sp>
      <p:sp>
        <p:nvSpPr>
          <p:cNvPr id="6" name="Text 4"/>
          <p:cNvSpPr/>
          <p:nvPr/>
        </p:nvSpPr>
        <p:spPr>
          <a:xfrm>
            <a:off x="180975" y="-6886575"/>
            <a:ext cx="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53188" y="2281238"/>
            <a:ext cx="1119188" cy="11191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2026-03-08T03:57:22Z</dcterms:created>
  <dcterms:modified xsi:type="dcterms:W3CDTF">2026-03-08T03:57:22Z</dcterms:modified>
</cp:coreProperties>
</file>